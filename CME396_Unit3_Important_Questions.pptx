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d1cd598-5053-24b5-caaf-74c2e08d9a9b}">
          <p14:sldIdLst>
            <p14:sldId id="256"/>
          </p14:sldIdLst>
        </p14:section>
        <p14:section name="Part A - 2 marks" id="{6c3e1fef-b2c2-acd4-a94e-abf1919fb1e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rt B - 13 marks" id="{1683922a-68fa-4b39-7446-d1c36333740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Exam tips" id="{fc9cf36a-712d-9634-2e1b-a20a11a18e03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CME396 Process Planning and Cost Estimation  |  Unit 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Process Planning and Cost Estimation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CME396  |  Unit 3: Introduction to Cost Estimation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Important 2-mark and 13-mark questions with answers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Based on Apr/May 2024, Nov/Dec 2024, Apr/May 2025 and Nov/Dec 2025 papers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10 two-mark questions with answers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Importance of cost estimation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Why is cost estimation important? What is its purpose?</a:t>
            </a:r>
            <a:r>
              <a:rPr lang="en-US" sz="1500" i="1" dirty="0">
                <a:solidFill>
                  <a:schemeClr val="accent3"/>
                </a:solidFill>
              </a:rPr>
              <a:t>   (AM 2024, AM 2025)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Cost estimation is the process of finding the </a:t>
            </a:r>
            <a:r>
              <a:rPr lang="en-US" sz="1700" b="1" dirty="0">
                <a:solidFill>
                  <a:schemeClr val="tx1"/>
                </a:solidFill>
              </a:rPr>
              <a:t>probable cost</a:t>
            </a:r>
            <a:r>
              <a:rPr lang="en-US" sz="1700" dirty="0">
                <a:solidFill>
                  <a:schemeClr val="tx1"/>
                </a:solidFill>
              </a:rPr>
              <a:t> of a product </a:t>
            </a:r>
            <a:r>
              <a:rPr lang="en-US" sz="1700" b="1" dirty="0">
                <a:solidFill>
                  <a:schemeClr val="tx1"/>
                </a:solidFill>
              </a:rPr>
              <a:t>before</a:t>
            </a:r>
            <a:r>
              <a:rPr lang="en-US" sz="1700" dirty="0">
                <a:solidFill>
                  <a:schemeClr val="tx1"/>
                </a:solidFill>
              </a:rPr>
              <a:t> it is manufactured. Its purposes are: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11094415" cy="23774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fix the </a:t>
            </a:r>
            <a:r>
              <a:rPr lang="en-US" sz="1700" b="1" dirty="0">
                <a:solidFill>
                  <a:schemeClr val="tx1"/>
                </a:solidFill>
              </a:rPr>
              <a:t>selling price</a:t>
            </a:r>
            <a:r>
              <a:rPr lang="en-US" sz="1700" dirty="0">
                <a:solidFill>
                  <a:schemeClr val="tx1"/>
                </a:solidFill>
              </a:rPr>
              <a:t> and submit quotations / tenders.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take </a:t>
            </a:r>
            <a:r>
              <a:rPr lang="en-US" sz="1700" b="1" dirty="0">
                <a:solidFill>
                  <a:schemeClr val="tx1"/>
                </a:solidFill>
              </a:rPr>
              <a:t>make-or-buy</a:t>
            </a:r>
            <a:r>
              <a:rPr lang="en-US" sz="1700" dirty="0">
                <a:solidFill>
                  <a:schemeClr val="tx1"/>
                </a:solidFill>
              </a:rPr>
              <a:t> decisions and select the most economical process.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prepare </a:t>
            </a:r>
            <a:r>
              <a:rPr lang="en-US" sz="1700" b="1" dirty="0">
                <a:solidFill>
                  <a:schemeClr val="tx1"/>
                </a:solidFill>
              </a:rPr>
              <a:t>budgets</a:t>
            </a:r>
            <a:r>
              <a:rPr lang="en-US" sz="1700" dirty="0">
                <a:solidFill>
                  <a:schemeClr val="tx1"/>
                </a:solidFill>
              </a:rPr>
              <a:t> and control the cost of production.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 check whether the product will be </a:t>
            </a:r>
            <a:r>
              <a:rPr lang="en-US" sz="1700" b="1" dirty="0">
                <a:solidFill>
                  <a:schemeClr val="tx1"/>
                </a:solidFill>
              </a:rPr>
              <a:t>profitable</a:t>
            </a:r>
            <a:r>
              <a:rPr lang="en-US" sz="1700" dirty="0">
                <a:solidFill>
                  <a:schemeClr val="tx1"/>
                </a:solidFill>
              </a:rPr>
              <a:t> before investing.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Estimation vs costing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Compare estimation and costing.</a:t>
            </a:r>
            <a:r>
              <a:rPr lang="en-US" sz="1500" i="1" dirty="0">
                <a:solidFill>
                  <a:schemeClr val="accent3"/>
                </a:solidFill>
              </a:rPr>
              <a:t>   (ND 2025)</a:t>
            </a:r>
            <a:endParaRPr lang="en-US" sz="1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43984"/>
                <a:gridCol w="445312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Point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Estimation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Costing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Meaning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Probable cost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cost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 production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During / after production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Done by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Estimator (technical person)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Cost accountant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Based on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Drawings, past data, judgement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bills, wages, records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Used for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Fixing price, quotations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Controlling cost, finding actual profit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Elements of cost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List the elements of cost.</a:t>
            </a:r>
            <a:r>
              <a:rPr lang="en-US" sz="1500" i="1" dirty="0">
                <a:solidFill>
                  <a:schemeClr val="accent3"/>
                </a:solidFill>
              </a:rPr>
              <a:t>   (AM 2025)</a:t>
            </a:r>
            <a:endParaRPr lang="en-US" sz="1900" dirty="0"/>
          </a:p>
        </p:txBody>
      </p:sp>
      <p:sp>
        <p:nvSpPr>
          <p:cNvPr id="7" name="Card Material"/>
          <p:cNvSpPr/>
          <p:nvPr/>
        </p:nvSpPr>
        <p:spPr>
          <a:xfrm>
            <a:off x="548640" y="2240280"/>
            <a:ext cx="351525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41448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Material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3149498" cy="1371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Direct material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Indirect material</a:t>
            </a:r>
            <a:endParaRPr lang="en-US" sz="1600" dirty="0"/>
          </a:p>
        </p:txBody>
      </p:sp>
      <p:sp>
        <p:nvSpPr>
          <p:cNvPr id="12" name="Card Labour"/>
          <p:cNvSpPr/>
          <p:nvPr/>
        </p:nvSpPr>
        <p:spPr>
          <a:xfrm>
            <a:off x="4338218" y="2240280"/>
            <a:ext cx="351525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66818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681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61178" y="2441448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Labour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1098" y="3108960"/>
            <a:ext cx="3149498" cy="1371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Direct labour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Indirect labour</a:t>
            </a:r>
            <a:endParaRPr lang="en-US" sz="1600" dirty="0"/>
          </a:p>
        </p:txBody>
      </p:sp>
      <p:sp>
        <p:nvSpPr>
          <p:cNvPr id="17" name="Card Expenses"/>
          <p:cNvSpPr/>
          <p:nvPr/>
        </p:nvSpPr>
        <p:spPr>
          <a:xfrm>
            <a:off x="8127797" y="2240280"/>
            <a:ext cx="351525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6397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6397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950757" y="2441448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Expenses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3108960"/>
            <a:ext cx="3149498" cy="1371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Direct expenses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Indirect expenses (overheads)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0060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Overheads</a:t>
            </a:r>
            <a:r>
              <a:rPr lang="en-US" sz="1700" dirty="0">
                <a:solidFill>
                  <a:schemeClr val="tx1"/>
                </a:solidFill>
              </a:rPr>
              <a:t> = Indirect material + Indirect labour + Indirect expenses; classified as factory, administrative, and selling &amp; distribution overheads.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Administrative expenses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Brief the term administrative expenses.</a:t>
            </a:r>
            <a:r>
              <a:rPr lang="en-US" sz="1500" i="1" dirty="0">
                <a:solidFill>
                  <a:schemeClr val="accent3"/>
                </a:solidFill>
              </a:rPr>
              <a:t>   (ND 2024)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1094415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Administrative expenses are the costs of </a:t>
            </a:r>
            <a:r>
              <a:rPr lang="en-US" sz="1700" b="1" dirty="0">
                <a:solidFill>
                  <a:schemeClr val="tx1"/>
                </a:solidFill>
              </a:rPr>
              <a:t>running the office</a:t>
            </a:r>
            <a:r>
              <a:rPr lang="en-US" sz="1700" dirty="0">
                <a:solidFill>
                  <a:schemeClr val="tx1"/>
                </a:solidFill>
              </a:rPr>
              <a:t> (not the shop floor). They are added to the factory cost to get the </a:t>
            </a:r>
            <a:r>
              <a:rPr lang="en-US" sz="1700" b="1" dirty="0">
                <a:solidFill>
                  <a:schemeClr val="tx1"/>
                </a:solidFill>
              </a:rPr>
              <a:t>production (office) cost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Examples: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11094415" cy="20116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Salaries of manager and office staff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Office rent, lighting and insurance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Stationery, postage and telephone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Legal and audit fees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Methods of allocating overheads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List out various methods of allocation of overhead expenses.</a:t>
            </a:r>
            <a:r>
              <a:rPr lang="en-US" sz="1500" i="1" dirty="0">
                <a:solidFill>
                  <a:schemeClr val="accent3"/>
                </a:solidFill>
              </a:rPr>
              <a:t>   (AM 2024, ND 2025)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5394960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Percentage of direct material cost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Percentage of direct labour cost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Percentage of prime cost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Man-hour rate method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40280"/>
            <a:ext cx="5394960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chemeClr val="tx1"/>
                </a:solidFill>
              </a:rPr>
              <a:t>Machine-hour rate method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700" dirty="0">
                <a:solidFill>
                  <a:schemeClr val="tx1"/>
                </a:solidFill>
              </a:rPr>
              <a:t>Combination of man-hour and machine-hour rates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7"/>
            </a:pPr>
            <a:r>
              <a:rPr lang="en-US" sz="1700" dirty="0">
                <a:solidFill>
                  <a:schemeClr val="tx1"/>
                </a:solidFill>
              </a:rPr>
              <a:t>Unit rate method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Overhead by unit rate method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37617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61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 concern produces 600 machines per year. Total overheads were Rs. 1,80,000. Calculate the overhead cost per machine by unit rate method.</a:t>
            </a:r>
            <a:r>
              <a:rPr lang="en-US" sz="1500" i="1" dirty="0">
                <a:solidFill>
                  <a:schemeClr val="accent3"/>
                </a:solidFill>
              </a:rPr>
              <a:t>   (ND 2024)</a:t>
            </a:r>
            <a:endParaRPr lang="en-US" sz="1900" dirty="0"/>
          </a:p>
        </p:txBody>
      </p:sp>
      <p:sp>
        <p:nvSpPr>
          <p:cNvPr id="7" name="Formula box"/>
          <p:cNvSpPr/>
          <p:nvPr/>
        </p:nvSpPr>
        <p:spPr>
          <a:xfrm>
            <a:off x="2986888" y="2514600"/>
            <a:ext cx="6217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2648" y="2820924"/>
            <a:ext cx="263347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Overhead per machine = 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86120" y="2619756"/>
            <a:ext cx="285292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overheads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22696" y="3040380"/>
            <a:ext cx="277977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6120" y="3076956"/>
            <a:ext cx="285292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Number of units produced</a:t>
            </a:r>
            <a:endParaRPr lang="en-US" sz="2000" dirty="0"/>
          </a:p>
        </p:txBody>
      </p:sp>
      <p:sp>
        <p:nvSpPr>
          <p:cNvPr id="12" name="Formula box"/>
          <p:cNvSpPr/>
          <p:nvPr/>
        </p:nvSpPr>
        <p:spPr>
          <a:xfrm>
            <a:off x="3754984" y="3840480"/>
            <a:ext cx="4681728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20744" y="4146804"/>
            <a:ext cx="32918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= 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49928" y="3945636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1,80,000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86504" y="4366260"/>
            <a:ext cx="102412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49928" y="4402836"/>
            <a:ext cx="10972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600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547208" y="4146804"/>
            <a:ext cx="252374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b="1" dirty="0">
                <a:solidFill>
                  <a:schemeClr val="tx1"/>
                </a:solidFill>
              </a:rPr>
              <a:t>Rs. 300 per machine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Man-hour rate and machine-hour rate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Define man hour and machine hour rate.</a:t>
            </a:r>
            <a:r>
              <a:rPr lang="en-US" sz="1500" i="1" dirty="0">
                <a:solidFill>
                  <a:schemeClr val="accent3"/>
                </a:solidFill>
              </a:rPr>
              <a:t>   (ND 2024)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Man-hour rate</a:t>
            </a:r>
            <a:endParaRPr lang="en-US" sz="1700" dirty="0"/>
          </a:p>
        </p:txBody>
      </p:sp>
      <p:sp>
        <p:nvSpPr>
          <p:cNvPr id="8" name="Formula box"/>
          <p:cNvSpPr/>
          <p:nvPr/>
        </p:nvSpPr>
        <p:spPr>
          <a:xfrm>
            <a:off x="4183380" y="224028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05272" y="2546604"/>
            <a:ext cx="186537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Man-hour rate = 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70648" y="2345436"/>
            <a:ext cx="274320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factory overheads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507224" y="2766060"/>
            <a:ext cx="267004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70648" y="2802636"/>
            <a:ext cx="274320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man-hours worked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Machine-hour rate</a:t>
            </a:r>
            <a:endParaRPr lang="en-US" sz="1700" dirty="0"/>
          </a:p>
        </p:txBody>
      </p:sp>
      <p:sp>
        <p:nvSpPr>
          <p:cNvPr id="14" name="Formula box"/>
          <p:cNvSpPr/>
          <p:nvPr/>
        </p:nvSpPr>
        <p:spPr>
          <a:xfrm>
            <a:off x="4183380" y="356616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37176" y="3872484"/>
            <a:ext cx="230428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Machine-hour rate = 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41464" y="3671316"/>
            <a:ext cx="3840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cost of running the machine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78040" y="4091940"/>
            <a:ext cx="376732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41464" y="4128516"/>
            <a:ext cx="38404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Total machine hours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Man-hour rate is used where work is mainly </a:t>
            </a:r>
            <a:r>
              <a:rPr lang="en-US" sz="1700" b="1" dirty="0">
                <a:solidFill>
                  <a:schemeClr val="tx1"/>
                </a:solidFill>
              </a:rPr>
              <a:t>manual</a:t>
            </a:r>
            <a:r>
              <a:rPr lang="en-US" sz="1700" dirty="0">
                <a:solidFill>
                  <a:schemeClr val="tx1"/>
                </a:solidFill>
              </a:rPr>
              <a:t>; machine-hour rate is used where work is mainly done on </a:t>
            </a:r>
            <a:r>
              <a:rPr lang="en-US" sz="1700" b="1" dirty="0">
                <a:solidFill>
                  <a:schemeClr val="tx1"/>
                </a:solidFill>
              </a:rPr>
              <a:t>machines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Depreciation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Define depreciation. List its methods.</a:t>
            </a:r>
            <a:r>
              <a:rPr lang="en-US" sz="1500" i="1" dirty="0">
                <a:solidFill>
                  <a:schemeClr val="accent3"/>
                </a:solidFill>
              </a:rPr>
              <a:t>   (Frequently asked)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1094415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Depreciation is the </a:t>
            </a:r>
            <a:r>
              <a:rPr lang="en-US" sz="1700" b="1" dirty="0">
                <a:solidFill>
                  <a:schemeClr val="tx1"/>
                </a:solidFill>
              </a:rPr>
              <a:t>permanent decrease in the value of an asset</a:t>
            </a:r>
            <a:r>
              <a:rPr lang="en-US" sz="1700" dirty="0">
                <a:solidFill>
                  <a:schemeClr val="tx1"/>
                </a:solidFill>
              </a:rPr>
              <a:t> with time due to wear and tear, age or obsolescence.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Methods: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11094415" cy="23774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Straight line method</a:t>
            </a:r>
            <a:endParaRPr lang="en-US" sz="17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Reducing balance method</a:t>
            </a:r>
            <a:endParaRPr lang="en-US" sz="17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Sinking fund method</a:t>
            </a:r>
            <a:endParaRPr lang="en-US" sz="17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Sum-of-years' digits method</a:t>
            </a:r>
            <a:endParaRPr lang="en-US" sz="17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Machine-hour basis method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Prime cost and factory cost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Define prime cost and factory cost.</a:t>
            </a:r>
            <a:r>
              <a:rPr lang="en-US" sz="1500" i="1" dirty="0">
                <a:solidFill>
                  <a:schemeClr val="accent3"/>
                </a:solidFill>
              </a:rPr>
              <a:t>   (Frequently asked)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Prime cost</a:t>
            </a:r>
            <a:endParaRPr lang="en-US" sz="1700" dirty="0"/>
          </a:p>
        </p:txBody>
      </p:sp>
      <p:sp>
        <p:nvSpPr>
          <p:cNvPr id="8" name="Formula box"/>
          <p:cNvSpPr/>
          <p:nvPr/>
        </p:nvSpPr>
        <p:spPr>
          <a:xfrm>
            <a:off x="4183380" y="2240280"/>
            <a:ext cx="7452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23206" y="2340864"/>
            <a:ext cx="65727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Prime cost = Direct material + Direct labour + Direct expenses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Factory cost</a:t>
            </a:r>
            <a:endParaRPr lang="en-US" sz="1700" dirty="0"/>
          </a:p>
        </p:txBody>
      </p:sp>
      <p:sp>
        <p:nvSpPr>
          <p:cNvPr id="11" name="Formula box"/>
          <p:cNvSpPr/>
          <p:nvPr/>
        </p:nvSpPr>
        <p:spPr>
          <a:xfrm>
            <a:off x="4183380" y="3154680"/>
            <a:ext cx="74523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09260" y="3255264"/>
            <a:ext cx="48006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Factory cost = Prime cost + Factory overheads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Prime cost is the total of all </a:t>
            </a:r>
            <a:r>
              <a:rPr lang="en-US" sz="1700" b="1" dirty="0">
                <a:solidFill>
                  <a:schemeClr val="tx1"/>
                </a:solidFill>
              </a:rPr>
              <a:t>direct</a:t>
            </a:r>
            <a:r>
              <a:rPr lang="en-US" sz="1700" dirty="0">
                <a:solidFill>
                  <a:schemeClr val="tx1"/>
                </a:solidFill>
              </a:rPr>
              <a:t> costs; factory (works) cost adds the </a:t>
            </a:r>
            <a:r>
              <a:rPr lang="en-US" sz="1700" b="1" dirty="0">
                <a:solidFill>
                  <a:schemeClr val="tx1"/>
                </a:solidFill>
              </a:rPr>
              <a:t>indirect</a:t>
            </a:r>
            <a:r>
              <a:rPr lang="en-US" sz="1700" dirty="0">
                <a:solidFill>
                  <a:schemeClr val="tx1"/>
                </a:solidFill>
              </a:rPr>
              <a:t> costs of the factory.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Direct vs indirect material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Differentiate direct and indirect material.</a:t>
            </a:r>
            <a:r>
              <a:rPr lang="en-US" sz="1500" i="1" dirty="0">
                <a:solidFill>
                  <a:schemeClr val="accent3"/>
                </a:solidFill>
              </a:rPr>
              <a:t>   (Frequently asked)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4415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 material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Indirect material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Becomes a part of the finished product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Helps production but is not part of the product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traced to a particular job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Cannot be traced to a particular job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Charged directly to the job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Charged as overhead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Example: steel bar for a shaft, castings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Example: lubricants, cotton waste, grinding wheels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B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6 thirteen-mark questions with answers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Q1 · Cost estimation procedure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Explain the step by step procedure for doing cost estimation for a new product.</a:t>
            </a:r>
            <a:r>
              <a:rPr lang="en-US" sz="1500" i="1" dirty="0">
                <a:solidFill>
                  <a:schemeClr val="accent3"/>
                </a:solidFill>
              </a:rPr>
              <a:t>   (ND 2024 – 13a)</a:t>
            </a:r>
            <a:endParaRPr lang="en-US" sz="1900" dirty="0"/>
          </a:p>
        </p:txBody>
      </p:sp>
      <p:sp>
        <p:nvSpPr>
          <p:cNvPr id="7" name="Card Definition"/>
          <p:cNvSpPr/>
          <p:nvPr/>
        </p:nvSpPr>
        <p:spPr>
          <a:xfrm>
            <a:off x="548640" y="2240280"/>
            <a:ext cx="512064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414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Definition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4754880" cy="21945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Estimation is the technical process of finding the </a:t>
            </a:r>
            <a:r>
              <a:rPr lang="en-US" sz="1600" b="1" dirty="0">
                <a:solidFill>
                  <a:schemeClr val="tx1"/>
                </a:solidFill>
              </a:rPr>
              <a:t>probable cost</a:t>
            </a:r>
            <a:r>
              <a:rPr lang="en-US" sz="1600" dirty="0">
                <a:solidFill>
                  <a:schemeClr val="tx1"/>
                </a:solidFill>
              </a:rPr>
              <a:t> of a product </a:t>
            </a:r>
            <a:r>
              <a:rPr lang="en-US" sz="1600" b="1" dirty="0">
                <a:solidFill>
                  <a:schemeClr val="tx1"/>
                </a:solidFill>
              </a:rPr>
              <a:t>before</a:t>
            </a:r>
            <a:r>
              <a:rPr lang="en-US" sz="1600" dirty="0">
                <a:solidFill>
                  <a:schemeClr val="tx1"/>
                </a:solidFill>
              </a:rPr>
              <a:t> production starts, using its drawings and specifications.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Aims of estimation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788920"/>
            <a:ext cx="5577840" cy="2651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 the selling price; submit quotations / tenders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Decide whether to make or buy a component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Choose the most economical method and machine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Prepare budgets and check profitability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Q1 · Procedure (contd.)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40680" cy="4937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Study the drawing</a:t>
            </a:r>
            <a:r>
              <a:rPr lang="en-US" sz="1700" dirty="0">
                <a:solidFill>
                  <a:schemeClr val="tx1"/>
                </a:solidFill>
              </a:rPr>
              <a:t> – material, dimensions, tolerances, finish, quantity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Bill of materials</a:t>
            </a:r>
            <a:r>
              <a:rPr lang="en-US" sz="1700" dirty="0">
                <a:solidFill>
                  <a:schemeClr val="tx1"/>
                </a:solidFill>
              </a:rPr>
              <a:t> – every part, bought-out items, quantities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Material cost</a:t>
            </a:r>
            <a:r>
              <a:rPr lang="en-US" sz="1700" dirty="0">
                <a:solidFill>
                  <a:schemeClr val="tx1"/>
                </a:solidFill>
              </a:rPr>
              <a:t> – volume → weight (× density) → + allowances → × rate per kg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Sequence of operations</a:t>
            </a:r>
            <a:r>
              <a:rPr lang="en-US" sz="1700" dirty="0">
                <a:solidFill>
                  <a:schemeClr val="tx1"/>
                </a:solidFill>
              </a:rPr>
              <a:t> – turning, drilling, milling, welding …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Time per operation</a:t>
            </a:r>
            <a:r>
              <a:rPr lang="en-US" sz="1700" dirty="0">
                <a:solidFill>
                  <a:schemeClr val="tx1"/>
                </a:solidFill>
              </a:rPr>
              <a:t> – set-up + machining + handling + allowances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188720"/>
            <a:ext cx="5422392" cy="4937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6"/>
            </a:pPr>
            <a:r>
              <a:rPr lang="en-US" sz="1700" b="1" dirty="0">
                <a:solidFill>
                  <a:schemeClr val="tx1"/>
                </a:solidFill>
              </a:rPr>
              <a:t>Labour cost</a:t>
            </a:r>
            <a:r>
              <a:rPr lang="en-US" sz="1700" dirty="0">
                <a:solidFill>
                  <a:schemeClr val="tx1"/>
                </a:solidFill>
              </a:rPr>
              <a:t> – time × wage rate per hour</a:t>
            </a:r>
            <a:endParaRPr lang="en-US" sz="17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7"/>
            </a:pPr>
            <a:r>
              <a:rPr lang="en-US" sz="1700" b="1" dirty="0">
                <a:solidFill>
                  <a:schemeClr val="tx1"/>
                </a:solidFill>
              </a:rPr>
              <a:t>Direct expenses</a:t>
            </a:r>
            <a:r>
              <a:rPr lang="en-US" sz="1700" dirty="0">
                <a:solidFill>
                  <a:schemeClr val="tx1"/>
                </a:solidFill>
              </a:rPr>
              <a:t> – special tools, jigs, patterns, royalties</a:t>
            </a:r>
            <a:endParaRPr lang="en-US" sz="17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8"/>
            </a:pPr>
            <a:r>
              <a:rPr lang="en-US" sz="1700" b="1" dirty="0">
                <a:solidFill>
                  <a:schemeClr val="tx1"/>
                </a:solidFill>
              </a:rPr>
              <a:t>Prime cost</a:t>
            </a:r>
            <a:r>
              <a:rPr lang="en-US" sz="1700" dirty="0">
                <a:solidFill>
                  <a:schemeClr val="tx1"/>
                </a:solidFill>
              </a:rPr>
              <a:t> = material + labour + direct expenses</a:t>
            </a:r>
            <a:endParaRPr lang="en-US" sz="17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9"/>
            </a:pPr>
            <a:r>
              <a:rPr lang="en-US" sz="1700" b="1" dirty="0">
                <a:solidFill>
                  <a:schemeClr val="tx1"/>
                </a:solidFill>
              </a:rPr>
              <a:t>Add overheads</a:t>
            </a:r>
            <a:r>
              <a:rPr lang="en-US" sz="1700" dirty="0">
                <a:solidFill>
                  <a:schemeClr val="tx1"/>
                </a:solidFill>
              </a:rPr>
              <a:t> – factory → administrative → selling &amp; distribution</a:t>
            </a:r>
            <a:endParaRPr lang="en-US" sz="1700" dirty="0"/>
          </a:p>
          <a:p>
            <a:pPr marL="304800" indent="-304800">
              <a:spcAft>
                <a:spcPts val="1400"/>
              </a:spcAft>
              <a:buSzPct val="100000"/>
              <a:buFont typeface="+mj-lt"/>
              <a:buAutoNum type="arabicPeriod" startAt="10"/>
            </a:pPr>
            <a:r>
              <a:rPr lang="en-US" sz="1700" b="1" dirty="0">
                <a:solidFill>
                  <a:schemeClr val="tx1"/>
                </a:solidFill>
              </a:rPr>
              <a:t>Add profit</a:t>
            </a:r>
            <a:r>
              <a:rPr lang="en-US" sz="1700" dirty="0">
                <a:solidFill>
                  <a:schemeClr val="tx1"/>
                </a:solidFill>
              </a:rPr>
              <a:t> – total cost + profit = selling price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Q1 · Example – cast iron pulley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572000"/>
                <a:gridCol w="24963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Working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Rs.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kg × Rs. 80 per kg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Labour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 h × Rs. 150 per h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 expenses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 of pattern cost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Prime cost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400 + 300 + 50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750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Factory overhead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40% of labour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Administrative + selling overhead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 + 70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cost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750 + 120 + 130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1,000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Selling price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1,000 + 15% profit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1,150</a:t>
                      </a:r>
                      <a:endParaRPr lang="en-US" sz="17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Conclusion:</a:t>
            </a:r>
            <a:r>
              <a:rPr lang="en-US" sz="1700" dirty="0">
                <a:solidFill>
                  <a:schemeClr val="tx1"/>
                </a:solidFill>
              </a:rPr>
              <a:t> an accurate estimate lets the firm quote competitive prices, avoid losses on orders and control production cost.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Q2 · Elements of cost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37617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61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Explain the elements of cost and the ladder of cost. Calculate prime cost, factory cost, production cost, total cost and selling price per item.</a:t>
            </a:r>
            <a:r>
              <a:rPr lang="en-US" sz="1500" i="1" dirty="0">
                <a:solidFill>
                  <a:schemeClr val="accent3"/>
                </a:solidFill>
              </a:rPr>
              <a:t>   (AM 2025, ND 2025 – 13a)</a:t>
            </a:r>
            <a:endParaRPr lang="en-US" sz="1900" dirty="0"/>
          </a:p>
        </p:txBody>
      </p:sp>
      <p:sp>
        <p:nvSpPr>
          <p:cNvPr id="7" name="Card Material"/>
          <p:cNvSpPr/>
          <p:nvPr/>
        </p:nvSpPr>
        <p:spPr>
          <a:xfrm>
            <a:off x="548640" y="251460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15768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Material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83280"/>
            <a:ext cx="3149498" cy="21945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Direct</a:t>
            </a:r>
            <a:r>
              <a:rPr lang="en-US" sz="1500" dirty="0">
                <a:solidFill>
                  <a:schemeClr val="tx1"/>
                </a:solidFill>
              </a:rPr>
              <a:t> – part of product (steel bar, castings)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Indirect</a:t>
            </a:r>
            <a:r>
              <a:rPr lang="en-US" sz="1500" dirty="0">
                <a:solidFill>
                  <a:schemeClr val="tx1"/>
                </a:solidFill>
              </a:rPr>
              <a:t> – oil, cotton waste, small tools</a:t>
            </a:r>
            <a:endParaRPr lang="en-US" sz="1500" dirty="0"/>
          </a:p>
        </p:txBody>
      </p:sp>
      <p:sp>
        <p:nvSpPr>
          <p:cNvPr id="12" name="Card Labour"/>
          <p:cNvSpPr/>
          <p:nvPr/>
        </p:nvSpPr>
        <p:spPr>
          <a:xfrm>
            <a:off x="4338218" y="251460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66818" y="2743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6818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61178" y="2715768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Labour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1098" y="3383280"/>
            <a:ext cx="3149498" cy="21945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Direct</a:t>
            </a:r>
            <a:r>
              <a:rPr lang="en-US" sz="1500" dirty="0">
                <a:solidFill>
                  <a:schemeClr val="tx1"/>
                </a:solidFill>
              </a:rPr>
              <a:t> – turner, welder, fitter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Indirect</a:t>
            </a:r>
            <a:r>
              <a:rPr lang="en-US" sz="1500" dirty="0">
                <a:solidFill>
                  <a:schemeClr val="tx1"/>
                </a:solidFill>
              </a:rPr>
              <a:t> – supervisor, storekeeper, inspector</a:t>
            </a:r>
            <a:endParaRPr lang="en-US" sz="1500" dirty="0"/>
          </a:p>
        </p:txBody>
      </p:sp>
      <p:sp>
        <p:nvSpPr>
          <p:cNvPr id="17" name="Card Expenses"/>
          <p:cNvSpPr/>
          <p:nvPr/>
        </p:nvSpPr>
        <p:spPr>
          <a:xfrm>
            <a:off x="8127797" y="2514600"/>
            <a:ext cx="3515258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6397" y="2743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6397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950757" y="2715768"/>
            <a:ext cx="25094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Expenses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3383280"/>
            <a:ext cx="3149498" cy="21945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Direct</a:t>
            </a:r>
            <a:r>
              <a:rPr lang="en-US" sz="1500" dirty="0">
                <a:solidFill>
                  <a:schemeClr val="tx1"/>
                </a:solidFill>
              </a:rPr>
              <a:t> – special jigs, patterns, royalty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Indirect (overheads)</a:t>
            </a:r>
            <a:r>
              <a:rPr lang="en-US" sz="1500" dirty="0">
                <a:solidFill>
                  <a:schemeClr val="tx1"/>
                </a:solidFill>
              </a:rPr>
              <a:t> – rent, power, depreciation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Q2 · Ladder of cost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663440" cy="4754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Prime cost</a:t>
            </a:r>
            <a:r>
              <a:rPr lang="en-US" sz="1700" dirty="0">
                <a:solidFill>
                  <a:schemeClr val="tx1"/>
                </a:solidFill>
              </a:rPr>
              <a:t> = Direct material + Direct labour + Direct expenses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Factory cost</a:t>
            </a:r>
            <a:r>
              <a:rPr lang="en-US" sz="1700" dirty="0">
                <a:solidFill>
                  <a:schemeClr val="tx1"/>
                </a:solidFill>
              </a:rPr>
              <a:t> = Prime cost + Factory overheads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Production cost</a:t>
            </a:r>
            <a:r>
              <a:rPr lang="en-US" sz="1700" dirty="0">
                <a:solidFill>
                  <a:schemeClr val="tx1"/>
                </a:solidFill>
              </a:rPr>
              <a:t> = Factory cost + Administrative overheads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Total cost</a:t>
            </a:r>
            <a:r>
              <a:rPr lang="en-US" sz="1700" dirty="0">
                <a:solidFill>
                  <a:schemeClr val="tx1"/>
                </a:solidFill>
              </a:rPr>
              <a:t> = Production cost + Selling &amp; distribution overheads</a:t>
            </a:r>
            <a:endParaRPr lang="en-US" sz="1700" dirty="0"/>
          </a:p>
          <a:p>
            <a:pPr marL="279400" indent="-2794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chemeClr val="tx1"/>
                </a:solidFill>
              </a:rPr>
              <a:t>Selling price</a:t>
            </a:r>
            <a:r>
              <a:rPr lang="en-US" sz="1700" dirty="0">
                <a:solidFill>
                  <a:schemeClr val="tx1"/>
                </a:solidFill>
              </a:rPr>
              <a:t> = Total cost + Profit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40680" y="13716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Prime cost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371600"/>
            <a:ext cx="64008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03720" y="1371600"/>
            <a:ext cx="6400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 material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0" y="1371600"/>
            <a:ext cx="64008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1371600"/>
            <a:ext cx="6400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 labour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83880" y="1371600"/>
            <a:ext cx="64008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371600"/>
            <a:ext cx="6400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Direct expenses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3042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Factory cost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03720" y="2304288"/>
            <a:ext cx="192024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23042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Prime cost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23960" y="2304288"/>
            <a:ext cx="68580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23960" y="2304288"/>
            <a:ext cx="68580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Factory overhead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3697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Production cost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3236976"/>
            <a:ext cx="260604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2369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Factory cost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09760" y="3236976"/>
            <a:ext cx="68580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0" y="3236976"/>
            <a:ext cx="68580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Admin. overhead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41696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Total cost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720" y="4169664"/>
            <a:ext cx="329184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41696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Production cost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95560" y="4169664"/>
            <a:ext cx="68580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95560" y="4169664"/>
            <a:ext cx="68580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Selling &amp; distribution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10235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Selling price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903720" y="5102352"/>
            <a:ext cx="3977640" cy="566928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51023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cost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881360" y="5102352"/>
            <a:ext cx="685800" cy="566928"/>
          </a:xfrm>
          <a:prstGeom prst="rect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881360" y="5102352"/>
            <a:ext cx="68580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Profit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40680" y="59436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Shaded = cost so far; gold = cost added at each step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Q2 · Problem (ND 2025) – solution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4206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Given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Rs.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 material stock 01-04-2023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 material purchased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Raw material stock 31-03-2024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 labour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 expenses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Factory overhead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9,750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Administrative expenditure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6,500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Selling and distribution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3,250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Items produced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Profit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10% of total cost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143000"/>
          <a:ext cx="665683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587752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 item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 consumed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25,000 + 40,000 − 15,000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76.92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Prime cost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50,000 + 14,000 + 1,000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65,000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100.00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Factory cost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65,000 + 9,750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74,750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115.00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Production cost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74,750 + 6,500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81,250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125.00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cost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81,250 + 3,250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84,500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130.00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Profit (10%)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0.10 × 130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8,450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13.00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Selling price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130 + 13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92,950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143.00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Answer"/>
          <p:cNvSpPr/>
          <p:nvPr/>
        </p:nvSpPr>
        <p:spPr>
          <a:xfrm>
            <a:off x="4983480" y="5166360"/>
            <a:ext cx="6656832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983480" y="5166360"/>
            <a:ext cx="6656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Answer: </a:t>
            </a:r>
            <a:r>
              <a:rPr lang="en-US" sz="2000" b="1" dirty="0">
                <a:solidFill>
                  <a:schemeClr val="bg1"/>
                </a:solidFill>
              </a:rPr>
              <a:t>Selling price = Rs. 143 per item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Q3 · Material cost estimation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Explain the steps involved in estimating labour and material costs in manufacturing.</a:t>
            </a:r>
            <a:r>
              <a:rPr lang="en-US" sz="1500" i="1" dirty="0">
                <a:solidFill>
                  <a:schemeClr val="accent3"/>
                </a:solidFill>
              </a:rPr>
              <a:t>   (AM 2025 – 13a)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1094415" cy="2651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Divide the component into simple shapes (cylinders, prisms, cones).</a:t>
            </a:r>
            <a:endParaRPr lang="en-US" sz="17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Find the volume of each shape and add them (subtract holes).</a:t>
            </a:r>
            <a:endParaRPr lang="en-US" sz="17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Weight = Volume × Density (steel 7.86 g/cm</a:t>
            </a:r>
            <a:r>
              <a:rPr lang="en-US" sz="1700" baseline="30000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, cast iron 7.2 g/cm</a:t>
            </a:r>
            <a:r>
              <a:rPr lang="en-US" sz="1700" baseline="30000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, aluminium 2.7 g/cm</a:t>
            </a:r>
            <a:r>
              <a:rPr lang="en-US" sz="1700" baseline="30000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Add allowances – machining, sprue / scrap, cutting (kerf) and scale losses.</a:t>
            </a:r>
            <a:endParaRPr lang="en-US" sz="17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Material cost = Gross weight × Rate per kg + bought-out parts − scrap value.</a:t>
            </a:r>
            <a:endParaRPr lang="en-US" sz="1700" dirty="0"/>
          </a:p>
        </p:txBody>
      </p:sp>
      <p:sp>
        <p:nvSpPr>
          <p:cNvPr id="8" name="Formula box"/>
          <p:cNvSpPr/>
          <p:nvPr/>
        </p:nvSpPr>
        <p:spPr>
          <a:xfrm>
            <a:off x="1766164" y="5029200"/>
            <a:ext cx="8659368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31924" y="5129784"/>
            <a:ext cx="792784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Material cost = (Volume × Density + Allowances) × Rate per kg − Scrap value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Q3 · Labour cost estimation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4415" cy="1554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List the operations from the process sheet.</a:t>
            </a:r>
            <a:endParaRPr lang="en-US" sz="17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Find </a:t>
            </a:r>
            <a:r>
              <a:rPr lang="en-US" sz="1700" b="1" dirty="0">
                <a:solidFill>
                  <a:schemeClr val="tx1"/>
                </a:solidFill>
              </a:rPr>
              <a:t>set-up time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b="1" dirty="0">
                <a:solidFill>
                  <a:schemeClr val="tx1"/>
                </a:solidFill>
              </a:rPr>
              <a:t>operation (machining) time</a:t>
            </a:r>
            <a:r>
              <a:rPr lang="en-US" sz="1700" dirty="0">
                <a:solidFill>
                  <a:schemeClr val="tx1"/>
                </a:solidFill>
              </a:rPr>
              <a:t> and </a:t>
            </a:r>
            <a:r>
              <a:rPr lang="en-US" sz="1700" b="1" dirty="0">
                <a:solidFill>
                  <a:schemeClr val="tx1"/>
                </a:solidFill>
              </a:rPr>
              <a:t>handling time</a:t>
            </a:r>
            <a:r>
              <a:rPr lang="en-US" sz="1700" dirty="0">
                <a:solidFill>
                  <a:schemeClr val="tx1"/>
                </a:solidFill>
              </a:rPr>
              <a:t> for each operation.</a:t>
            </a:r>
            <a:endParaRPr lang="en-US" sz="1700" dirty="0"/>
          </a:p>
          <a:p>
            <a:pPr marL="279400" indent="-2794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Add 10–20% allowance for fatigue, personal needs, tool sharpening and delays.</a:t>
            </a:r>
            <a:endParaRPr lang="en-US" sz="1700" dirty="0"/>
          </a:p>
        </p:txBody>
      </p:sp>
      <p:sp>
        <p:nvSpPr>
          <p:cNvPr id="4" name="Formula box"/>
          <p:cNvSpPr/>
          <p:nvPr/>
        </p:nvSpPr>
        <p:spPr>
          <a:xfrm>
            <a:off x="1856689" y="2743200"/>
            <a:ext cx="8478317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222449" y="3049524"/>
            <a:ext cx="178856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Time per piece = 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011016" y="2848356"/>
            <a:ext cx="1305763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Set-up time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47592" y="3268980"/>
            <a:ext cx="1232611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11016" y="3305556"/>
            <a:ext cx="1305763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Batch size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16779" y="3049524"/>
            <a:ext cx="465246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+ Operation time + Handling time + Allowances</a:t>
            </a:r>
            <a:endParaRPr lang="en-US" sz="1800" dirty="0"/>
          </a:p>
        </p:txBody>
      </p:sp>
      <p:sp>
        <p:nvSpPr>
          <p:cNvPr id="10" name="Formula box"/>
          <p:cNvSpPr/>
          <p:nvPr/>
        </p:nvSpPr>
        <p:spPr>
          <a:xfrm>
            <a:off x="3453232" y="3931920"/>
            <a:ext cx="528523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8992" y="4032504"/>
            <a:ext cx="45537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Labour cost = Total time × Wage rate per hour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11094415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Example:</a:t>
            </a:r>
            <a:r>
              <a:rPr lang="en-US" sz="1600" dirty="0">
                <a:solidFill>
                  <a:schemeClr val="tx1"/>
                </a:solidFill>
              </a:rPr>
              <a:t> 12 min turning + 3 min handling + 15% allowance = 15 × 1.15 = 17.25 min. At Rs. 120 per hour:</a:t>
            </a:r>
            <a:endParaRPr lang="en-US" sz="1600" dirty="0"/>
          </a:p>
        </p:txBody>
      </p:sp>
      <p:sp>
        <p:nvSpPr>
          <p:cNvPr id="13" name="Formula box"/>
          <p:cNvSpPr/>
          <p:nvPr/>
        </p:nvSpPr>
        <p:spPr>
          <a:xfrm>
            <a:off x="3189884" y="5394960"/>
            <a:ext cx="5811926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55644" y="5701284"/>
            <a:ext cx="149230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Labour cost = 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47945" y="5500116"/>
            <a:ext cx="713232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17.25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84521" y="5920740"/>
            <a:ext cx="64008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945" y="5957316"/>
            <a:ext cx="713232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60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61177" y="5701284"/>
            <a:ext cx="2874874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× 120 = </a:t>
            </a:r>
            <a:r>
              <a:rPr lang="en-US" sz="1800" b="1" dirty="0">
                <a:solidFill>
                  <a:schemeClr val="tx1"/>
                </a:solidFill>
              </a:rPr>
              <a:t>Rs. 34.50 per piece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Q4 · Overheads and their classification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Describe overheads and the methods of allocating overhead charges in cost estimation.</a:t>
            </a:r>
            <a:r>
              <a:rPr lang="en-US" sz="1500" i="1" dirty="0">
                <a:solidFill>
                  <a:schemeClr val="accent3"/>
                </a:solidFill>
              </a:rPr>
              <a:t>   (AM 2024, AM 2025 – 13b, ND 2025)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11094415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Overheads</a:t>
            </a:r>
            <a:r>
              <a:rPr lang="en-US" sz="1600" dirty="0">
                <a:solidFill>
                  <a:schemeClr val="tx1"/>
                </a:solidFill>
              </a:rPr>
              <a:t> are all indirect costs – indirect material, indirect labour and indirect expenses – that cannot be charged directly to one job, so they are shared out fairly.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Factory (works)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Factory rent, power, lighting, repairs, machine depreciation, supervisor salary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Administrative (office)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Office staff salaries, office rent, stationery, telephone, audit fees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Selling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Advertisement, salesmen's salary and commission, showroom expenses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Distribution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Packing, warehouse rent, transport and delivery vans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Q4 · Methods of allocation (1–4)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% of direct material</a:t>
            </a:r>
            <a:endParaRPr lang="en-US" sz="1700" dirty="0"/>
          </a:p>
        </p:txBody>
      </p:sp>
      <p:sp>
        <p:nvSpPr>
          <p:cNvPr id="4" name="Formula box"/>
          <p:cNvSpPr/>
          <p:nvPr/>
        </p:nvSpPr>
        <p:spPr>
          <a:xfrm>
            <a:off x="4183380" y="114300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68112" y="1449324"/>
            <a:ext cx="139354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% Overhead = 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61658" y="1248156"/>
            <a:ext cx="278709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overheads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98234" y="1668780"/>
            <a:ext cx="2713939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61658" y="1705356"/>
            <a:ext cx="278709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direct material cost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48749" y="1449324"/>
            <a:ext cx="7022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× 100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7744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% of direct labour</a:t>
            </a:r>
            <a:endParaRPr lang="en-US" sz="1700" dirty="0"/>
          </a:p>
        </p:txBody>
      </p:sp>
      <p:sp>
        <p:nvSpPr>
          <p:cNvPr id="11" name="Formula box"/>
          <p:cNvSpPr/>
          <p:nvPr/>
        </p:nvSpPr>
        <p:spPr>
          <a:xfrm>
            <a:off x="4183380" y="237744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66867" y="2683764"/>
            <a:ext cx="139354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% Overhead = 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60413" y="2482596"/>
            <a:ext cx="258958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overheads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96989" y="2903220"/>
            <a:ext cx="2516429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60413" y="2939796"/>
            <a:ext cx="258958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direct labour cost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549994" y="2683764"/>
            <a:ext cx="7022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× 100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118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% of prime cost</a:t>
            </a:r>
            <a:endParaRPr lang="en-US" sz="1700" dirty="0"/>
          </a:p>
        </p:txBody>
      </p:sp>
      <p:sp>
        <p:nvSpPr>
          <p:cNvPr id="18" name="Formula box"/>
          <p:cNvSpPr/>
          <p:nvPr/>
        </p:nvSpPr>
        <p:spPr>
          <a:xfrm>
            <a:off x="4183380" y="361188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61888" y="3918204"/>
            <a:ext cx="139354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% Overhead = 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55434" y="3717036"/>
            <a:ext cx="179953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overheads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92010" y="4137660"/>
            <a:ext cx="1726387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55434" y="4174236"/>
            <a:ext cx="179953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prime cost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54973" y="3918204"/>
            <a:ext cx="7022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× 100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463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Man-hour rate</a:t>
            </a:r>
            <a:endParaRPr lang="en-US" sz="1700" dirty="0"/>
          </a:p>
        </p:txBody>
      </p:sp>
      <p:sp>
        <p:nvSpPr>
          <p:cNvPr id="25" name="Formula box"/>
          <p:cNvSpPr/>
          <p:nvPr/>
        </p:nvSpPr>
        <p:spPr>
          <a:xfrm>
            <a:off x="4183380" y="484632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4262" y="5152644"/>
            <a:ext cx="168981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Man-hour rate = 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904074" y="4951476"/>
            <a:ext cx="1700784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overheads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940650" y="5372100"/>
            <a:ext cx="162763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4074" y="5408676"/>
            <a:ext cx="1700784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man-hours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Q4 · Methods of allocation (5–7)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5. Machine-hour rate</a:t>
            </a:r>
            <a:endParaRPr lang="en-US" sz="1700" dirty="0"/>
          </a:p>
        </p:txBody>
      </p:sp>
      <p:sp>
        <p:nvSpPr>
          <p:cNvPr id="4" name="Formula box"/>
          <p:cNvSpPr/>
          <p:nvPr/>
        </p:nvSpPr>
        <p:spPr>
          <a:xfrm>
            <a:off x="4183380" y="114300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73598" y="1449324"/>
            <a:ext cx="208483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Machine-hour rate = 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558430" y="1248156"/>
            <a:ext cx="278709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machine running cost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95006" y="1668780"/>
            <a:ext cx="2713939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58430" y="1705356"/>
            <a:ext cx="278709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machine hours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31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6. Combination of man-hour and machine-hour rates</a:t>
            </a:r>
            <a:r>
              <a:rPr lang="en-US" sz="1700" dirty="0">
                <a:solidFill>
                  <a:schemeClr val="tx1"/>
                </a:solidFill>
              </a:rPr>
              <a:t> – used where both men and machines are important.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7. Unit rate</a:t>
            </a:r>
            <a:endParaRPr lang="en-US" sz="1700" dirty="0"/>
          </a:p>
        </p:txBody>
      </p:sp>
      <p:sp>
        <p:nvSpPr>
          <p:cNvPr id="11" name="Formula box"/>
          <p:cNvSpPr/>
          <p:nvPr/>
        </p:nvSpPr>
        <p:spPr>
          <a:xfrm>
            <a:off x="4183380" y="2926080"/>
            <a:ext cx="7452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2354" y="3232404"/>
            <a:ext cx="208483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Overhead per unit = 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657186" y="3031236"/>
            <a:ext cx="258958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overheads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93762" y="3451860"/>
            <a:ext cx="2516429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57186" y="3488436"/>
            <a:ext cx="258958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Number of units produced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60520"/>
            <a:ext cx="11094415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Example:</a:t>
            </a:r>
            <a:r>
              <a:rPr lang="en-US" sz="1600" dirty="0">
                <a:solidFill>
                  <a:schemeClr val="tx1"/>
                </a:solidFill>
              </a:rPr>
              <a:t> overhead Rs. 50,000 and direct labour Rs. 1,00,000 give 50% of labour; a job with Rs. 2,000 labour is charged Rs. 1,000.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1094415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Conclusion:</a:t>
            </a:r>
            <a:r>
              <a:rPr lang="en-US" sz="1600" dirty="0">
                <a:solidFill>
                  <a:schemeClr val="tx1"/>
                </a:solidFill>
              </a:rPr>
              <a:t> the machine-hour rate is the most accurate in machine shops, because most overheads are caused by machines.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Q5 · Depreciation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23901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90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Explain depreciation, its causes and methods, with a note on appreciation. Solve the given problems.</a:t>
            </a:r>
            <a:r>
              <a:rPr lang="en-US" sz="1500" i="1" dirty="0">
                <a:solidFill>
                  <a:schemeClr val="accent3"/>
                </a:solidFill>
              </a:rPr>
              <a:t>   (ND 2024 – 13b, ND 2025 – 13b)</a:t>
            </a:r>
            <a:endParaRPr lang="en-US" sz="1900" dirty="0"/>
          </a:p>
        </p:txBody>
      </p:sp>
      <p:sp>
        <p:nvSpPr>
          <p:cNvPr id="7" name="Card Depreciation"/>
          <p:cNvSpPr/>
          <p:nvPr/>
        </p:nvSpPr>
        <p:spPr>
          <a:xfrm>
            <a:off x="548640" y="2240280"/>
            <a:ext cx="53949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4144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Depreciation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5029200" cy="2286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Permanent decrease</a:t>
            </a:r>
            <a:r>
              <a:rPr lang="en-US" sz="1600" dirty="0">
                <a:solidFill>
                  <a:schemeClr val="tx1"/>
                </a:solidFill>
              </a:rPr>
              <a:t> in the value of an asset with time.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Charged as a cost so money is available to </a:t>
            </a:r>
            <a:r>
              <a:rPr lang="en-US" sz="1600" b="1" dirty="0">
                <a:solidFill>
                  <a:schemeClr val="tx1"/>
                </a:solidFill>
              </a:rPr>
              <a:t>replace</a:t>
            </a:r>
            <a:r>
              <a:rPr lang="en-US" sz="1600" dirty="0">
                <a:solidFill>
                  <a:schemeClr val="tx1"/>
                </a:solidFill>
              </a:rPr>
              <a:t> the asset at the end of its life.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40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Causes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743200"/>
            <a:ext cx="5394960" cy="1737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Wear and tear due to use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Age and decay (rust, corrosion)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Obsolescence – better machines available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Accidents, breakdowns, fall in demand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526280"/>
            <a:ext cx="5394960" cy="10972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Appreciation</a:t>
            </a:r>
            <a:r>
              <a:rPr lang="en-US" sz="1500" dirty="0">
                <a:solidFill>
                  <a:schemeClr val="tx1"/>
                </a:solidFill>
              </a:rPr>
              <a:t> is the increase in an asset's value with time (land, buildings in growing cities). Example: a plot bought for Rs. 10 lakh may be worth Rs. 15 lakh after 5 years.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Q5 · Methods of depreciation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20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C = initial cost,  S = scrap value,  n = life in years,  i = interest rate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Straight line</a:t>
            </a:r>
            <a:endParaRPr lang="en-US" sz="1700" dirty="0"/>
          </a:p>
        </p:txBody>
      </p:sp>
      <p:sp>
        <p:nvSpPr>
          <p:cNvPr id="5" name="Formula box"/>
          <p:cNvSpPr/>
          <p:nvPr/>
        </p:nvSpPr>
        <p:spPr>
          <a:xfrm>
            <a:off x="4183380" y="1325880"/>
            <a:ext cx="7452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00570" y="1563624"/>
            <a:ext cx="50474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 = 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05318" y="1362456"/>
            <a:ext cx="713232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 − 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41894" y="1783080"/>
            <a:ext cx="64008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05318" y="1819656"/>
            <a:ext cx="713232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134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Reducing balance</a:t>
            </a:r>
            <a:endParaRPr lang="en-US" sz="1700" dirty="0"/>
          </a:p>
        </p:txBody>
      </p:sp>
      <p:sp>
        <p:nvSpPr>
          <p:cNvPr id="11" name="Formula box"/>
          <p:cNvSpPr/>
          <p:nvPr/>
        </p:nvSpPr>
        <p:spPr>
          <a:xfrm>
            <a:off x="4183380" y="2313432"/>
            <a:ext cx="7452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01656" y="2551176"/>
            <a:ext cx="89977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 = 1 − 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101425" y="2386584"/>
            <a:ext cx="1773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20" dirty="0">
                <a:solidFill>
                  <a:schemeClr val="tx1"/>
                </a:solidFill>
              </a:rPr>
              <a:t>(</a:t>
            </a:r>
            <a:endParaRPr lang="en-US" sz="3420" dirty="0"/>
          </a:p>
        </p:txBody>
      </p:sp>
      <p:sp>
        <p:nvSpPr>
          <p:cNvPr id="14" name="Text 12"/>
          <p:cNvSpPr txBox="1"/>
          <p:nvPr/>
        </p:nvSpPr>
        <p:spPr>
          <a:xfrm>
            <a:off x="6278728" y="2350008"/>
            <a:ext cx="31821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15304" y="2770632"/>
            <a:ext cx="245059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728" y="2807208"/>
            <a:ext cx="318211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96939" y="2386584"/>
            <a:ext cx="1773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20" dirty="0">
                <a:solidFill>
                  <a:schemeClr val="tx1"/>
                </a:solidFill>
              </a:rPr>
              <a:t>)</a:t>
            </a:r>
            <a:endParaRPr lang="en-US" sz="3420" dirty="0"/>
          </a:p>
        </p:txBody>
      </p:sp>
      <p:sp>
        <p:nvSpPr>
          <p:cNvPr id="18" name="Text 16"/>
          <p:cNvSpPr txBox="1"/>
          <p:nvPr/>
        </p:nvSpPr>
        <p:spPr>
          <a:xfrm>
            <a:off x="6774241" y="2551176"/>
            <a:ext cx="27706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aseline="30000" dirty="0">
                <a:solidFill>
                  <a:schemeClr val="tx1"/>
                </a:solidFill>
              </a:rPr>
              <a:t>1/n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51304" y="2551176"/>
            <a:ext cx="35661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   Value after m years = C(1 − r)</a:t>
            </a:r>
            <a:r>
              <a:rPr lang="en-US" sz="1800" baseline="30000" dirty="0">
                <a:solidFill>
                  <a:schemeClr val="tx1"/>
                </a:solidFill>
              </a:rPr>
              <a:t>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00984"/>
            <a:ext cx="338328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Sinking fund</a:t>
            </a:r>
            <a:endParaRPr lang="en-US" sz="1700" dirty="0"/>
          </a:p>
        </p:txBody>
      </p:sp>
      <p:sp>
        <p:nvSpPr>
          <p:cNvPr id="21" name="Formula box"/>
          <p:cNvSpPr/>
          <p:nvPr/>
        </p:nvSpPr>
        <p:spPr>
          <a:xfrm>
            <a:off x="4183380" y="3300984"/>
            <a:ext cx="7452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1150" y="3538728"/>
            <a:ext cx="1492301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= (C − S) × 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953451" y="3337560"/>
            <a:ext cx="140451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90027" y="3758184"/>
            <a:ext cx="133136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3451" y="3794760"/>
            <a:ext cx="140451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(1 + i)</a:t>
            </a:r>
            <a:r>
              <a:rPr lang="en-US" sz="1800" baseline="30000" dirty="0">
                <a:solidFill>
                  <a:schemeClr val="tx1"/>
                </a:solidFill>
              </a:rPr>
              <a:t>n</a:t>
            </a:r>
            <a:r>
              <a:rPr lang="en-US" sz="1800" dirty="0">
                <a:solidFill>
                  <a:schemeClr val="tx1"/>
                </a:solidFill>
              </a:rPr>
              <a:t> − 1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88536"/>
            <a:ext cx="338328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Sum-of-years' digits</a:t>
            </a:r>
            <a:endParaRPr lang="en-US" sz="1700" dirty="0"/>
          </a:p>
        </p:txBody>
      </p:sp>
      <p:sp>
        <p:nvSpPr>
          <p:cNvPr id="27" name="Formula box"/>
          <p:cNvSpPr/>
          <p:nvPr/>
        </p:nvSpPr>
        <p:spPr>
          <a:xfrm>
            <a:off x="4183380" y="4288536"/>
            <a:ext cx="7452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11773" y="4526280"/>
            <a:ext cx="15910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</a:t>
            </a:r>
            <a:r>
              <a:rPr lang="en-US" sz="1800" baseline="-40000" dirty="0">
                <a:solidFill>
                  <a:schemeClr val="tx1"/>
                </a:solidFill>
              </a:rPr>
              <a:t>k</a:t>
            </a:r>
            <a:r>
              <a:rPr lang="en-US" sz="1800" dirty="0">
                <a:solidFill>
                  <a:schemeClr val="tx1"/>
                </a:solidFill>
              </a:rPr>
              <a:t> = (C − S) × 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02829" y="4325112"/>
            <a:ext cx="140451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 − k + 1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39405" y="4745736"/>
            <a:ext cx="133136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02829" y="4782312"/>
            <a:ext cx="140451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n(n + 1) / 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2760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5. Machine-hour basis</a:t>
            </a:r>
            <a:endParaRPr lang="en-US" sz="1700" dirty="0"/>
          </a:p>
        </p:txBody>
      </p:sp>
      <p:sp>
        <p:nvSpPr>
          <p:cNvPr id="33" name="Formula box"/>
          <p:cNvSpPr/>
          <p:nvPr/>
        </p:nvSpPr>
        <p:spPr>
          <a:xfrm>
            <a:off x="4183380" y="5276088"/>
            <a:ext cx="7452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9864" y="5513832"/>
            <a:ext cx="139354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 per hour = 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7163410" y="5312664"/>
            <a:ext cx="2885846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 − 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199986" y="5733288"/>
            <a:ext cx="281269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63410" y="5769864"/>
            <a:ext cx="2885846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Total working hours in life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Q5 · Problem (i): reducing balance method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machine costs Rs. 25,000, life 20 years, scrap value Rs. 4,000. Find the depreciation fund after 3 years, depreciation for the 3rd year and the yearly percentage reduction. </a:t>
            </a:r>
            <a:r>
              <a:rPr lang="en-US" sz="1600" b="1" dirty="0">
                <a:solidFill>
                  <a:schemeClr val="tx1"/>
                </a:solidFill>
              </a:rPr>
              <a:t>(7 marks)</a:t>
            </a:r>
            <a:endParaRPr lang="en-US" sz="1600" dirty="0"/>
          </a:p>
        </p:txBody>
      </p:sp>
      <p:sp>
        <p:nvSpPr>
          <p:cNvPr id="4" name="Formula box"/>
          <p:cNvSpPr/>
          <p:nvPr/>
        </p:nvSpPr>
        <p:spPr>
          <a:xfrm>
            <a:off x="2145731" y="1874520"/>
            <a:ext cx="7900233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511491" y="2180844"/>
            <a:ext cx="89977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 = 1 − 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411261" y="2016252"/>
            <a:ext cx="1773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20" dirty="0">
                <a:solidFill>
                  <a:schemeClr val="tx1"/>
                </a:solidFill>
              </a:rPr>
              <a:t>(</a:t>
            </a:r>
            <a:endParaRPr lang="en-US" sz="3420" dirty="0"/>
          </a:p>
        </p:txBody>
      </p:sp>
      <p:sp>
        <p:nvSpPr>
          <p:cNvPr id="7" name="Text 5"/>
          <p:cNvSpPr txBox="1"/>
          <p:nvPr/>
        </p:nvSpPr>
        <p:spPr>
          <a:xfrm>
            <a:off x="3588563" y="1979676"/>
            <a:ext cx="811987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4,000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25139" y="2400300"/>
            <a:ext cx="738835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8563" y="2436876"/>
            <a:ext cx="811987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25,000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00550" y="2016252"/>
            <a:ext cx="1773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20" dirty="0">
                <a:solidFill>
                  <a:schemeClr val="tx1"/>
                </a:solidFill>
              </a:rPr>
              <a:t>)</a:t>
            </a:r>
            <a:endParaRPr lang="en-US" sz="3420" dirty="0"/>
          </a:p>
        </p:txBody>
      </p:sp>
      <p:sp>
        <p:nvSpPr>
          <p:cNvPr id="11" name="Text 9"/>
          <p:cNvSpPr txBox="1"/>
          <p:nvPr/>
        </p:nvSpPr>
        <p:spPr>
          <a:xfrm>
            <a:off x="4577852" y="2180844"/>
            <a:ext cx="35113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aseline="30000" dirty="0">
                <a:solidFill>
                  <a:schemeClr val="tx1"/>
                </a:solidFill>
              </a:rPr>
              <a:t>1/20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28982" y="2180844"/>
            <a:ext cx="475122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= 1 − (0.16)</a:t>
            </a:r>
            <a:r>
              <a:rPr lang="en-US" sz="1800" baseline="30000" dirty="0">
                <a:solidFill>
                  <a:schemeClr val="tx1"/>
                </a:solidFill>
              </a:rPr>
              <a:t>0.05</a:t>
            </a:r>
            <a:r>
              <a:rPr lang="en-US" sz="1800" dirty="0">
                <a:solidFill>
                  <a:schemeClr val="tx1"/>
                </a:solidFill>
              </a:rPr>
              <a:t> = 1 − 0.9124 = </a:t>
            </a:r>
            <a:r>
              <a:rPr lang="en-US" sz="1800" b="1" dirty="0">
                <a:solidFill>
                  <a:schemeClr val="tx1"/>
                </a:solidFill>
              </a:rPr>
              <a:t>0.0876 = 8.76%</a:t>
            </a:r>
            <a:endParaRPr lang="en-US" sz="1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920240"/>
                <a:gridCol w="219456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 at start (Rs.)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Depreciation @ 8.76% (Rs.)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 at end (Rs.)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25,000.00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2,188.90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22,811.10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22,811.10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1,997.24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20,813.86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20,813.86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1,822.33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18,991.53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Answer"/>
          <p:cNvSpPr/>
          <p:nvPr/>
        </p:nvSpPr>
        <p:spPr>
          <a:xfrm>
            <a:off x="7589520" y="3063240"/>
            <a:ext cx="4050792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80960" y="3063240"/>
            <a:ext cx="3867912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Fund after 3 years = Rs. 6,008.47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3rd-year depreciation = Rs. 1,822.33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Reduction = 8.76% per year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Using logs: log 0.16 = −0.7959;  × 0.05 = −0.0398;  antilog = 0.9124.   Fund = 25,000 − 18,991.53 = 6,008.47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Q5 · Problem (ii): machine-hour basis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shaper costs Rs. 85,000, life 8 years, scrap value Rs. 8,500, and works 3,330 hours a year. Find the depreciation per hour and per year. </a:t>
            </a:r>
            <a:r>
              <a:rPr lang="en-US" sz="1600" b="1" dirty="0">
                <a:solidFill>
                  <a:schemeClr val="tx1"/>
                </a:solidFill>
              </a:rPr>
              <a:t>(6 marks)</a:t>
            </a:r>
            <a:endParaRPr lang="en-US" sz="1600" dirty="0"/>
          </a:p>
        </p:txBody>
      </p:sp>
      <p:sp>
        <p:nvSpPr>
          <p:cNvPr id="4" name="Formula box"/>
          <p:cNvSpPr/>
          <p:nvPr/>
        </p:nvSpPr>
        <p:spPr>
          <a:xfrm>
            <a:off x="3903116" y="1920240"/>
            <a:ext cx="4385462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68876" y="2020824"/>
            <a:ext cx="365394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Total hours = 8 × 3,330 = 26,640 h</a:t>
            </a:r>
            <a:endParaRPr lang="en-US" sz="1900" dirty="0"/>
          </a:p>
        </p:txBody>
      </p:sp>
      <p:sp>
        <p:nvSpPr>
          <p:cNvPr id="6" name="Formula box"/>
          <p:cNvSpPr/>
          <p:nvPr/>
        </p:nvSpPr>
        <p:spPr>
          <a:xfrm>
            <a:off x="1853946" y="2788920"/>
            <a:ext cx="8483803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19706" y="3095244"/>
            <a:ext cx="261152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Depreciation per hour = 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31232" y="2894076"/>
            <a:ext cx="167883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85,000 − 8,500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867808" y="3314700"/>
            <a:ext cx="1605686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1232" y="3351276"/>
            <a:ext cx="167883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26,640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10071" y="3095244"/>
            <a:ext cx="42245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932524" y="2894076"/>
            <a:ext cx="844906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76,500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969100" y="3314700"/>
            <a:ext cx="77175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32524" y="3351276"/>
            <a:ext cx="844906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26,640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777429" y="3095244"/>
            <a:ext cx="219456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</a:t>
            </a:r>
            <a:r>
              <a:rPr lang="en-US" sz="1900" b="1" dirty="0">
                <a:solidFill>
                  <a:schemeClr val="tx1"/>
                </a:solidFill>
              </a:rPr>
              <a:t>Rs. 2.87 per hour</a:t>
            </a:r>
            <a:endParaRPr lang="en-US" sz="1900" dirty="0"/>
          </a:p>
        </p:txBody>
      </p:sp>
      <p:sp>
        <p:nvSpPr>
          <p:cNvPr id="16" name="Formula box"/>
          <p:cNvSpPr/>
          <p:nvPr/>
        </p:nvSpPr>
        <p:spPr>
          <a:xfrm>
            <a:off x="1609801" y="4069080"/>
            <a:ext cx="8972093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75561" y="4169664"/>
            <a:ext cx="824057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Annual depreciation = 2.8716 × 3,330 = </a:t>
            </a:r>
            <a:r>
              <a:rPr lang="en-US" sz="1900" b="1" dirty="0">
                <a:solidFill>
                  <a:schemeClr val="tx1"/>
                </a:solidFill>
              </a:rPr>
              <a:t>Rs. 9,562.50 per year</a:t>
            </a:r>
            <a:r>
              <a:rPr lang="en-US" sz="1900" dirty="0">
                <a:solidFill>
                  <a:schemeClr val="tx1"/>
                </a:solidFill>
              </a:rPr>
              <a:t>  (11.25% of cost)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Q6 · Methods of costing</a:t>
            </a:r>
            <a:endParaRPr lang="en-US" sz="3200" dirty="0"/>
          </a:p>
        </p:txBody>
      </p:sp>
      <p:sp>
        <p:nvSpPr>
          <p:cNvPr id="3" name="Question box"/>
          <p:cNvSpPr/>
          <p:nvPr/>
        </p:nvSpPr>
        <p:spPr>
          <a:xfrm>
            <a:off x="548640" y="1097280"/>
            <a:ext cx="11094415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badge"/>
          <p:cNvSpPr/>
          <p:nvPr/>
        </p:nvSpPr>
        <p:spPr>
          <a:xfrm>
            <a:off x="777240" y="137617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61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9905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Discuss the methods of costing such as job costing, process costing and activity-based costing, highlighting their differences.</a:t>
            </a:r>
            <a:r>
              <a:rPr lang="en-US" sz="1500" i="1" dirty="0">
                <a:solidFill>
                  <a:schemeClr val="accent3"/>
                </a:solidFill>
              </a:rPr>
              <a:t>   (AM 2024 – 13a)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5440680" cy="3657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chemeClr val="tx1"/>
                </a:solidFill>
              </a:rPr>
              <a:t>Job costing</a:t>
            </a:r>
            <a:r>
              <a:rPr lang="en-US" sz="1600" dirty="0">
                <a:solidFill>
                  <a:schemeClr val="tx1"/>
                </a:solidFill>
              </a:rPr>
              <a:t> – each job / order costed separately (repair shops, special machines)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chemeClr val="tx1"/>
                </a:solidFill>
              </a:rPr>
              <a:t>Batch costing</a:t>
            </a:r>
            <a:r>
              <a:rPr lang="en-US" sz="1600" dirty="0">
                <a:solidFill>
                  <a:schemeClr val="tx1"/>
                </a:solidFill>
              </a:rPr>
              <a:t> – a batch of identical items is one job; cost per item = batch cost ÷ items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chemeClr val="tx1"/>
                </a:solidFill>
              </a:rPr>
              <a:t>Process costing</a:t>
            </a:r>
            <a:r>
              <a:rPr lang="en-US" sz="1600" dirty="0">
                <a:solidFill>
                  <a:schemeClr val="tx1"/>
                </a:solidFill>
              </a:rPr>
              <a:t> – product passes through processes in sequence (cement, sugar, steel)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chemeClr val="tx1"/>
                </a:solidFill>
              </a:rPr>
              <a:t>Unit costing</a:t>
            </a:r>
            <a:r>
              <a:rPr lang="en-US" sz="1600" dirty="0">
                <a:solidFill>
                  <a:schemeClr val="tx1"/>
                </a:solidFill>
              </a:rPr>
              <a:t> – one standard product in bulk (bricks, cement bags, mining)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514600"/>
            <a:ext cx="5422392" cy="3657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304800" indent="-3048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b="1" dirty="0">
                <a:solidFill>
                  <a:schemeClr val="tx1"/>
                </a:solidFill>
              </a:rPr>
              <a:t>Operating costing</a:t>
            </a:r>
            <a:r>
              <a:rPr lang="en-US" sz="1600" dirty="0">
                <a:solidFill>
                  <a:schemeClr val="tx1"/>
                </a:solidFill>
              </a:rPr>
              <a:t> – services: transport (per km), power (per kWh)</a:t>
            </a:r>
            <a:endParaRPr lang="en-US" sz="1600" dirty="0"/>
          </a:p>
          <a:p>
            <a:pPr marL="304800" indent="-304800">
              <a:spcAft>
                <a:spcPts val="1000"/>
              </a:spcAft>
              <a:buSzPct val="100000"/>
              <a:buFont typeface="+mj-lt"/>
              <a:buAutoNum type="arabicPeriod" startAt="6"/>
            </a:pPr>
            <a:r>
              <a:rPr lang="en-US" sz="1600" b="1" dirty="0">
                <a:solidFill>
                  <a:schemeClr val="tx1"/>
                </a:solidFill>
              </a:rPr>
              <a:t>Contract costing</a:t>
            </a:r>
            <a:r>
              <a:rPr lang="en-US" sz="1600" dirty="0">
                <a:solidFill>
                  <a:schemeClr val="tx1"/>
                </a:solidFill>
              </a:rPr>
              <a:t> – long works: buildings, bridges, ships</a:t>
            </a:r>
            <a:endParaRPr lang="en-US" sz="1600" dirty="0"/>
          </a:p>
          <a:p>
            <a:pPr marL="304800" indent="-304800">
              <a:spcAft>
                <a:spcPts val="1000"/>
              </a:spcAft>
              <a:buSzPct val="100000"/>
              <a:buFont typeface="+mj-lt"/>
              <a:buAutoNum type="arabicPeriod" startAt="7"/>
            </a:pPr>
            <a:r>
              <a:rPr lang="en-US" sz="1600" b="1" dirty="0">
                <a:solidFill>
                  <a:schemeClr val="tx1"/>
                </a:solidFill>
              </a:rPr>
              <a:t>Activity-based costing</a:t>
            </a:r>
            <a:r>
              <a:rPr lang="en-US" sz="1600" dirty="0">
                <a:solidFill>
                  <a:schemeClr val="tx1"/>
                </a:solidFill>
              </a:rPr>
              <a:t> – overheads traced to activities (set-up, inspection, handling) and charged by usage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Q6 · Comparison of costing methods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35224"/>
                <a:gridCol w="2935224"/>
                <a:gridCol w="293522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Point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Job costing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Process costing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Activity-based costing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 of product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Made to order, different each time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Continuous, identical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Many products, high overheads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Cost unit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job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process / period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One activity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Overhead charged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Broad 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 process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 activity (cost driver)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Average cost only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Machine repair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Cement plant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 parts plant, many models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Conclusion:</a:t>
            </a:r>
            <a:r>
              <a:rPr lang="en-US" sz="1700" dirty="0">
                <a:solidFill>
                  <a:schemeClr val="tx1"/>
                </a:solidFill>
              </a:rPr>
              <a:t> job costing suits job-order shops, process costing suits continuous production, and ABC gives the most accurate product costs in modern multi-product factories.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Exam tips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74720"/>
            <a:ext cx="1109441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Write the formula first, then substitute – it earns step marks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Show every numerical step in a table; write units (Rs., hours, %)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Draw the ladder of cost in any cost question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47472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st Estimation">
  <a:themeElements>
    <a:clrScheme name="Cost Estimation">
      <a:dk1>
        <a:srgbClr val="1A1A1A"/>
      </a:dk1>
      <a:lt1>
        <a:srgbClr val="FFFFFF"/>
      </a:lt1>
      <a:dk2>
        <a:srgbClr val="1F3A5F"/>
      </a:dk2>
      <a:lt2>
        <a:srgbClr val="EEF2F7"/>
      </a:lt2>
      <a:accent1>
        <a:srgbClr val="C9A227"/>
      </a:accent1>
      <a:accent2>
        <a:srgbClr val="2E6F95"/>
      </a:accent2>
      <a:accent3>
        <a:srgbClr val="6B7785"/>
      </a:accent3>
      <a:accent4>
        <a:srgbClr val="B85042"/>
      </a:accent4>
      <a:accent5>
        <a:srgbClr val="4F7942"/>
      </a:accent5>
      <a:accent6>
        <a:srgbClr val="8E6C8A"/>
      </a:accent6>
      <a:hlink>
        <a:srgbClr val="2E6F95"/>
      </a:hlink>
      <a:folHlink>
        <a:srgbClr val="6D2E46"/>
      </a:folHlink>
    </a:clrScheme>
    <a:fontScheme name="Cost Estimatio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CME396 Unit 3 - Cost Estimation</dc:title>
  <dc:subject>PptxGenJS Presentation</dc:subject>
  <dc:creator>PptxGenJS</dc:creator>
  <cp:lastModifiedBy>PptxGenJS</cp:lastModifiedBy>
  <cp:revision>1</cp:revision>
  <dcterms:created xsi:type="dcterms:W3CDTF">2026-10-06T04:38:00Z</dcterms:created>
  <dcterms:modified xsi:type="dcterms:W3CDTF">2026-10-06T04:38:00Z</dcterms:modified>
</cp:coreProperties>
</file>