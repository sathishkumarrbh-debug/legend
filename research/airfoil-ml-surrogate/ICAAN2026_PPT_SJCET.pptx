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6059c2e-87cf-0c6b-0c39-e15a5fef6556}">
          <p14:sldIdLst>
            <p14:sldId id="256"/>
            <p14:sldId id="257"/>
            <p14:sldId id="258"/>
          </p14:sldIdLst>
        </p14:section>
        <p14:section name="Methodology" id="{367fa4a2-20f0-3a29-0af1-d5b2db17399c}">
          <p14:sldIdLst>
            <p14:sldId id="259"/>
            <p14:sldId id="260"/>
            <p14:sldId id="261"/>
            <p14:sldId id="262"/>
          </p14:sldIdLst>
        </p14:section>
        <p14:section name="Machine learning" id="{ac9371e3-a8a3-9b7d-82b7-f6f850f19827}">
          <p14:sldIdLst>
            <p14:sldId id="263"/>
          </p14:sldIdLst>
        </p14:section>
        <p14:section name="Results" id="{5487f24d-d5c6-c81b-4f69-7157cf2249d6}">
          <p14:sldIdLst>
            <p14:sldId id="264"/>
            <p14:sldId id="265"/>
          </p14:sldIdLst>
        </p14:section>
        <p14:section name="Conclusion" id="{d5923248-058b-d59c-856e-b6d42b821189}">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Greet the audience, introduce the team and say the title. One line: we built a computer model that predicts how much lift an aircraft wing section produces, in a fraction of a millisecond.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with a hand gesture: the curved (cambered) shape gives more lift than the symmetric one at the same angle. Engineers must check many such shapes, which takes time. Our idea is to replace the slow calculation with a trained ML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Read the three objectives. Build a solver, make data with it, and teach ML models from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The four digits describe the shape. 2412 means 2% camber at 40% chord and 12% thickness. These shape numbers plus the angle of attack are the four inputs; lift coefficient and suction peak are the two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Walk left to right. We draw the airfoil with equations, split its surface into 160 small panels, solve the flow, repeat for 3,000 random shapes and angles, then teach the ML model with this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Before trusting the data we checked the solver. The straight lines match theory: the symmetric airfoil gives zero lift at zero angle, and the cambered 2412 gives zero lift at about minus 2 degrees, exactly as theory predicts.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The purple curve is the top surface, gold is the bottom. The gap between them is the lift. The tall spike near the front is the suction peak; designers watch it because a very sharp peak leads to 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We tried three models from simple to advanced. R squared close to 1 means the prediction matches the solver almost perfectly; MAE is the average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All models predict lift well because lift is almost a straight line with angle. But for the suction peak, linear regression scores only 0.66 while the ANN scores 0.999. In the plots, points on the dashed line are perfect predictions.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Three numbers to remember: 0.999 accuracy, about 1,500 times faster, and angle of attack is the biggest factor for lift, followed by camber.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Summarise and be honest about the limitation: our flow model has no viscosity, so it cannot predict drag or stall. That is our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2A0D5C"/>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8229600" cy="274320"/>
          </a:xfrm>
          <a:prstGeom prst="rect">
            <a:avLst/>
          </a:prstGeom>
          <a:noFill/>
          <a:ln/>
        </p:spPr>
        <p:txBody>
          <a:bodyPr wrap="square" rtlCol="0" anchor="ctr"/>
          <a:lstStyle/>
          <a:p>
            <a:pPr indent="0" marL="0">
              <a:buNone/>
            </a:pPr>
            <a:r>
              <a:rPr lang="en-US" sz="1000" dirty="0">
                <a:solidFill>
                  <a:srgbClr val="8A8A8A"/>
                </a:solidFill>
                <a:latin typeface="Calibri" pitchFamily="34" charset="0"/>
                <a:ea typeface="Calibri" pitchFamily="34" charset="-122"/>
                <a:cs typeface="Calibri" pitchFamily="34" charset="-120"/>
              </a:rPr>
              <a:t>ICAAN–2026  |  St. Joseph’s College of Engineering and Technology, Thanjavur</a:t>
            </a:r>
            <a:endParaRPr lang="en-US" sz="1000" dirty="0"/>
          </a:p>
        </p:txBody>
      </p:sp>
      <p:sp>
        <p:nvSpPr>
          <p:cNvPr id="3" name="Text 1"/>
          <p:cNvSpPr/>
          <p:nvPr>
            <p:ph idx="101" type="title" hasCustomPrompt="1"/>
          </p:nvPr>
        </p:nvSpPr>
        <p:spPr>
          <a:xfrm>
            <a:off x="548640" y="320040"/>
            <a:ext cx="11064240" cy="822960"/>
          </a:xfrm>
          <a:prstGeom prst="rect">
            <a:avLst/>
          </a:prstGeom>
          <a:noFill/>
          <a:ln/>
        </p:spPr>
        <p:txBody>
          <a:bodyPr wrap="square" rtlCol="0"/>
          <a:lstStyle>
            <a:lvl1pPr indent="0" marL="0">
              <a:buNone/>
              <a:defRPr lang="en-US" sz="3400" b="1" dirty="0">
                <a:solidFill>
                  <a:schemeClr val="tx2"/>
                </a:solidFill>
                <a:latin typeface="Times New Roman" pitchFamily="34" charset="0"/>
                <a:ea typeface="Times New Roman" pitchFamily="34" charset="-122"/>
                <a:cs typeface="Times New Roman" pitchFamily="34" charset="-120"/>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GOLD">
    <p:bg>
      <p:bgPr>
        <a:solidFill>
          <a:srgbClr val="4A1D8C"/>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CCF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logo.png">    </p:cNvPr>
          <p:cNvPicPr>
            <a:picLocks noChangeAspect="1"/>
          </p:cNvPicPr>
          <p:nvPr/>
        </p:nvPicPr>
        <p:blipFill>
          <a:blip r:embed="rId1"/>
          <a:stretch>
            <a:fillRect/>
          </a:stretch>
        </p:blipFill>
        <p:spPr>
          <a:xfrm>
            <a:off x="548640" y="411480"/>
            <a:ext cx="1051560" cy="1051560"/>
          </a:xfrm>
          <a:prstGeom prst="rect">
            <a:avLst/>
          </a:prstGeom>
        </p:spPr>
      </p:pic>
      <p:sp>
        <p:nvSpPr>
          <p:cNvPr id="3" name="Text 0"/>
          <p:cNvSpPr txBox="1"/>
          <p:nvPr/>
        </p:nvSpPr>
        <p:spPr>
          <a:xfrm>
            <a:off x="1783080" y="502920"/>
            <a:ext cx="9144000" cy="8686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St. Joseph’s College of Engineering and Technology, Thanjavur</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Department of Mechanical Engineering</a:t>
            </a:r>
            <a:endParaRPr lang="en-US" sz="1600" dirty="0"/>
          </a:p>
        </p:txBody>
      </p:sp>
      <p:sp>
        <p:nvSpPr>
          <p:cNvPr id="4" name="Text 1"/>
          <p:cNvSpPr txBox="1"/>
          <p:nvPr/>
        </p:nvSpPr>
        <p:spPr>
          <a:xfrm>
            <a:off x="548640" y="1828800"/>
            <a:ext cx="11064240" cy="1737360"/>
          </a:xfrm>
          <a:prstGeom prst="rect">
            <a:avLst/>
          </a:prstGeom>
          <a:noFill/>
          <a:ln/>
        </p:spPr>
        <p:txBody>
          <a:bodyPr wrap="square" lIns="0" tIns="0" rIns="0" bIns="0" rtlCol="0" anchor="ctr"/>
          <a:lstStyle/>
          <a:p>
            <a:pPr indent="0" marL="0">
              <a:buNone/>
            </a:pPr>
            <a:r>
              <a:rPr lang="en-US" sz="3800" b="1" dirty="0">
                <a:solidFill>
                  <a:srgbClr val="FFFFFF"/>
                </a:solidFill>
                <a:latin typeface="Times New Roman" pitchFamily="34" charset="0"/>
                <a:ea typeface="Times New Roman" pitchFamily="34" charset="-122"/>
                <a:cs typeface="Times New Roman" pitchFamily="34" charset="-120"/>
              </a:rPr>
              <a:t>Machine Learning Surrogate Model for Rapid Prediction of Lift and Suction Peak of NACA 4-Digit Airfoils</a:t>
            </a:r>
            <a:endParaRPr lang="en-US" sz="3800" dirty="0"/>
          </a:p>
        </p:txBody>
      </p:sp>
      <p:sp>
        <p:nvSpPr>
          <p:cNvPr id="5" name="Text 2"/>
          <p:cNvSpPr txBox="1"/>
          <p:nvPr/>
        </p:nvSpPr>
        <p:spPr>
          <a:xfrm>
            <a:off x="548640" y="3611880"/>
            <a:ext cx="10972800" cy="411480"/>
          </a:xfrm>
          <a:prstGeom prst="rect">
            <a:avLst/>
          </a:prstGeom>
          <a:noFill/>
          <a:ln/>
        </p:spPr>
        <p:txBody>
          <a:bodyPr wrap="square" lIns="0" tIns="0" rIns="0" bIns="0" rtlCol="0" anchor="ctr"/>
          <a:lstStyle/>
          <a:p>
            <a:pPr indent="0" marL="0">
              <a:buNone/>
            </a:pPr>
            <a:r>
              <a:rPr lang="en-US" sz="1800" i="1" dirty="0">
                <a:solidFill>
                  <a:srgbClr val="FFD666"/>
                </a:solidFill>
              </a:rPr>
              <a:t>Track: Artificial Intelligence in Aerospace</a:t>
            </a:r>
            <a:endParaRPr lang="en-US" sz="1800" dirty="0"/>
          </a:p>
        </p:txBody>
      </p:sp>
      <p:sp>
        <p:nvSpPr>
          <p:cNvPr id="6" name="Text 3"/>
          <p:cNvSpPr txBox="1"/>
          <p:nvPr/>
        </p:nvSpPr>
        <p:spPr>
          <a:xfrm>
            <a:off x="548640" y="4389120"/>
            <a:ext cx="10972800" cy="868680"/>
          </a:xfrm>
          <a:prstGeom prst="rect">
            <a:avLst/>
          </a:prstGeom>
          <a:noFill/>
          <a:ln/>
        </p:spPr>
        <p:txBody>
          <a:bodyPr wrap="square" lIns="0" tIns="0" rIns="0" bIns="0" rtlCol="0" anchor="ctr"/>
          <a:lstStyle/>
          <a:p>
            <a:pPr indent="0" marL="0">
              <a:buNone/>
            </a:pPr>
            <a:r>
              <a:rPr lang="en-US" sz="1800" b="1" dirty="0">
                <a:solidFill>
                  <a:srgbClr val="FFFFFF"/>
                </a:solidFill>
              </a:rPr>
              <a:t>Dr. S. R. Sathishkumar, [Staff Name]</a:t>
            </a:r>
            <a:endParaRPr lang="en-US" sz="1800" dirty="0"/>
          </a:p>
          <a:p>
            <a:pPr indent="0" marL="0">
              <a:buNone/>
            </a:pPr>
            <a:r>
              <a:rPr lang="en-US" sz="1800" dirty="0">
                <a:solidFill>
                  <a:srgbClr val="FFFFFF"/>
                </a:solidFill>
              </a:rPr>
              <a:t>[Student 1], [Student 2], [Student 3], [Student 4]</a:t>
            </a:r>
            <a:endParaRPr lang="en-US" sz="1800" dirty="0"/>
          </a:p>
        </p:txBody>
      </p:sp>
      <p:sp>
        <p:nvSpPr>
          <p:cNvPr id="7" name="Text 4"/>
          <p:cNvSpPr txBox="1"/>
          <p:nvPr/>
        </p:nvSpPr>
        <p:spPr>
          <a:xfrm>
            <a:off x="548640" y="5989320"/>
            <a:ext cx="10972800" cy="365760"/>
          </a:xfrm>
          <a:prstGeom prst="rect">
            <a:avLst/>
          </a:prstGeom>
          <a:noFill/>
          <a:ln/>
        </p:spPr>
        <p:txBody>
          <a:bodyPr wrap="square" lIns="0" tIns="0" rIns="0" bIns="0" rtlCol="0" anchor="ctr"/>
          <a:lstStyle/>
          <a:p>
            <a:pPr indent="0" marL="0">
              <a:buNone/>
            </a:pPr>
            <a:r>
              <a:rPr lang="en-US" sz="1300" dirty="0">
                <a:solidFill>
                  <a:srgbClr val="D9CCF2"/>
                </a:solidFill>
              </a:rPr>
              <a:t>ICAAN–2026  ·  Saranathan College of Engineering, Tiruchirappalli  ·  15–16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Times New Roman" pitchFamily="34" charset="0"/>
                <a:ea typeface="Times New Roman" pitchFamily="34" charset="-122"/>
                <a:cs typeface="Times New Roman" pitchFamily="34" charset="-120"/>
              </a:rPr>
              <a:t>Why do we need fast airfoil prediction?</a:t>
            </a:r>
            <a:endParaRPr lang="en-US" sz="3400" dirty="0"/>
          </a:p>
        </p:txBody>
      </p:sp>
      <p:sp>
        <p:nvSpPr>
          <p:cNvPr id="3" name="Text 1"/>
          <p:cNvSpPr txBox="1"/>
          <p:nvPr/>
        </p:nvSpPr>
        <p:spPr>
          <a:xfrm>
            <a:off x="548640" y="1371600"/>
            <a:ext cx="6035040" cy="4389120"/>
          </a:xfrm>
          <a:prstGeom prst="rect">
            <a:avLst/>
          </a:prstGeom>
          <a:noFill/>
          <a:ln/>
        </p:spPr>
        <p:txBody>
          <a:bodyPr wrap="square" rtlCol="0" anchor="t"/>
          <a:lstStyle/>
          <a:p>
            <a:pPr marL="342900" indent="-342900">
              <a:spcAft>
                <a:spcPts val="1000"/>
              </a:spcAft>
              <a:buSzPct val="100000"/>
              <a:buChar char="•"/>
            </a:pPr>
            <a:r>
              <a:rPr lang="en-US" sz="1800" dirty="0">
                <a:solidFill>
                  <a:srgbClr val="1F1F1F"/>
                </a:solidFill>
              </a:rPr>
              <a:t>An airfoil is the cross-section of a wing; its shape decides the lift</a:t>
            </a:r>
            <a:endParaRPr lang="en-US" sz="1800" dirty="0"/>
          </a:p>
          <a:p>
            <a:pPr marL="342900" indent="-342900">
              <a:spcAft>
                <a:spcPts val="1000"/>
              </a:spcAft>
              <a:buSzPct val="100000"/>
              <a:buChar char="•"/>
            </a:pPr>
            <a:r>
              <a:rPr lang="en-US" sz="1800" dirty="0">
                <a:solidFill>
                  <a:srgbClr val="1F1F1F"/>
                </a:solidFill>
              </a:rPr>
              <a:t>Designing a UAV wing means testing hundreds of shapes and angles</a:t>
            </a:r>
            <a:endParaRPr lang="en-US" sz="1800" dirty="0"/>
          </a:p>
          <a:p>
            <a:pPr marL="342900" indent="-342900">
              <a:spcAft>
                <a:spcPts val="1000"/>
              </a:spcAft>
              <a:buSzPct val="100000"/>
              <a:buChar char="•"/>
            </a:pPr>
            <a:r>
              <a:rPr lang="en-US" sz="1800" dirty="0">
                <a:solidFill>
                  <a:srgbClr val="1F1F1F"/>
                </a:solidFill>
              </a:rPr>
              <a:t>Each test needs a flow calculation (CFD or panel method) – slow when repeated</a:t>
            </a:r>
            <a:endParaRPr lang="en-US" sz="1800" dirty="0"/>
          </a:p>
          <a:p>
            <a:pPr marL="342900" indent="-342900">
              <a:spcAft>
                <a:spcPts val="1000"/>
              </a:spcAft>
              <a:buSzPct val="100000"/>
              <a:buChar char="•"/>
            </a:pPr>
            <a:r>
              <a:rPr lang="en-US" sz="1800" dirty="0">
                <a:solidFill>
                  <a:srgbClr val="1F1F1F"/>
                </a:solidFill>
              </a:rPr>
              <a:t>Idea: train a machine learning model once, then predict instantly</a:t>
            </a:r>
            <a:endParaRPr lang="en-US" sz="1800" dirty="0"/>
          </a:p>
        </p:txBody>
      </p:sp>
      <p:sp>
        <p:nvSpPr>
          <p:cNvPr id="4" name="Shape 2"/>
          <p:cNvSpPr/>
          <p:nvPr/>
        </p:nvSpPr>
        <p:spPr>
          <a:xfrm>
            <a:off x="6949440" y="1417320"/>
            <a:ext cx="4663440" cy="4480560"/>
          </a:xfrm>
          <a:prstGeom prst="roundRect">
            <a:avLst>
              <a:gd name="adj" fmla="val 2449"/>
            </a:avLst>
          </a:prstGeom>
          <a:solidFill>
            <a:srgbClr val="F3EEFB"/>
          </a:solidFill>
          <a:ln w="12700">
            <a:solidFill>
              <a:srgbClr val="F3EEFB"/>
            </a:solidFill>
            <a:prstDash val="solid"/>
          </a:ln>
          <a:effectLst>
            <a:outerShdw sx="100000" sy="100000" kx="0" ky="0" algn="bl" rotWithShape="0" blurRad="76200" dist="25400" dir="5400000">
              <a:srgbClr val="000000">
                <a:alpha val="12000"/>
              </a:srgbClr>
            </a:outerShdw>
          </a:effectLst>
        </p:spPr>
      </p:sp>
      <p:pic>
        <p:nvPicPr>
          <p:cNvPr id="5" name="Image 0" descr="fig_airfoils.png">    </p:cNvPr>
          <p:cNvPicPr>
            <a:picLocks noChangeAspect="1"/>
          </p:cNvPicPr>
          <p:nvPr/>
        </p:nvPicPr>
        <p:blipFill>
          <a:blip r:embed="rId1"/>
          <a:stretch>
            <a:fillRect/>
          </a:stretch>
        </p:blipFill>
        <p:spPr>
          <a:xfrm>
            <a:off x="7086600" y="2377440"/>
            <a:ext cx="4389120" cy="1069848"/>
          </a:xfrm>
          <a:prstGeom prst="rect">
            <a:avLst/>
          </a:prstGeom>
        </p:spPr>
      </p:pic>
      <p:sp>
        <p:nvSpPr>
          <p:cNvPr id="6" name="Text 3"/>
          <p:cNvSpPr txBox="1"/>
          <p:nvPr/>
        </p:nvSpPr>
        <p:spPr>
          <a:xfrm>
            <a:off x="7132320" y="4343400"/>
            <a:ext cx="4297680" cy="822960"/>
          </a:xfrm>
          <a:prstGeom prst="rect">
            <a:avLst/>
          </a:prstGeom>
          <a:noFill/>
          <a:ln/>
        </p:spPr>
        <p:txBody>
          <a:bodyPr wrap="square" rtlCol="0" anchor="ctr"/>
          <a:lstStyle/>
          <a:p>
            <a:pPr algn="ctr" indent="0" marL="0">
              <a:buNone/>
            </a:pPr>
            <a:r>
              <a:rPr lang="en-US" sz="1500" i="1" dirty="0">
                <a:solidFill>
                  <a:srgbClr val="4A1D8C"/>
                </a:solidFill>
              </a:rPr>
              <a:t>Same thickness (12%), different camber → different lift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Times New Roman" pitchFamily="34" charset="0"/>
                <a:ea typeface="Times New Roman" pitchFamily="34" charset="-122"/>
                <a:cs typeface="Times New Roman" pitchFamily="34" charset="-120"/>
              </a:rPr>
              <a:t>Objectives</a:t>
            </a:r>
            <a:endParaRPr lang="en-US" sz="3400" dirty="0"/>
          </a:p>
        </p:txBody>
      </p:sp>
      <p:sp>
        <p:nvSpPr>
          <p:cNvPr id="3" name="Shape 1"/>
          <p:cNvSpPr/>
          <p:nvPr/>
        </p:nvSpPr>
        <p:spPr>
          <a:xfrm>
            <a:off x="548640" y="1554480"/>
            <a:ext cx="3520440" cy="3931920"/>
          </a:xfrm>
          <a:prstGeom prst="roundRect">
            <a:avLst>
              <a:gd name="adj" fmla="val 3117"/>
            </a:avLst>
          </a:prstGeom>
          <a:solidFill>
            <a:srgbClr val="F3EEFB"/>
          </a:solidFill>
          <a:ln w="12700">
            <a:solidFill>
              <a:srgbClr val="F3EEFB"/>
            </a:solidFill>
            <a:prstDash val="solid"/>
          </a:ln>
          <a:effectLst>
            <a:outerShdw sx="100000" sy="100000" kx="0" ky="0" algn="bl" rotWithShape="0" blurRad="76200" dist="25400" dir="5400000">
              <a:srgbClr val="000000">
                <a:alpha val="12000"/>
              </a:srgbClr>
            </a:outerShdw>
          </a:effectLst>
        </p:spPr>
      </p:sp>
      <p:sp>
        <p:nvSpPr>
          <p:cNvPr id="4" name="num1"/>
          <p:cNvSpPr/>
          <p:nvPr/>
        </p:nvSpPr>
        <p:spPr>
          <a:xfrm>
            <a:off x="822960" y="1828800"/>
            <a:ext cx="502920" cy="502920"/>
          </a:xfrm>
          <a:prstGeom prst="ellipse">
            <a:avLst/>
          </a:prstGeom>
          <a:solidFill>
            <a:schemeClr val="accent2"/>
          </a:solidFill>
          <a:ln w="12700">
            <a:solidFill>
              <a:schemeClr val="accent2"/>
            </a:solidFill>
            <a:prstDash val="solid"/>
          </a:ln>
        </p:spPr>
      </p:sp>
      <p:sp>
        <p:nvSpPr>
          <p:cNvPr id="5" name="Text 3"/>
          <p:cNvSpPr txBox="1"/>
          <p:nvPr/>
        </p:nvSpPr>
        <p:spPr>
          <a:xfrm>
            <a:off x="822960" y="1828800"/>
            <a:ext cx="502920" cy="502920"/>
          </a:xfrm>
          <a:prstGeom prst="rect">
            <a:avLst/>
          </a:prstGeom>
          <a:noFill/>
          <a:ln/>
        </p:spPr>
        <p:txBody>
          <a:bodyPr wrap="square" lIns="0" tIns="0" rIns="0" bIns="0" rtlCol="0" anchor="ctr"/>
          <a:lstStyle/>
          <a:p>
            <a:pPr algn="ctr" indent="0" marL="0">
              <a:buNone/>
            </a:pPr>
            <a:r>
              <a:rPr lang="en-US" sz="1800" b="1" dirty="0">
                <a:solidFill>
                  <a:srgbClr val="2A0D5C"/>
                </a:solidFill>
                <a:latin typeface="Times New Roman" pitchFamily="34" charset="0"/>
                <a:ea typeface="Times New Roman" pitchFamily="34" charset="-122"/>
                <a:cs typeface="Times New Roman" pitchFamily="34" charset="-120"/>
              </a:rPr>
              <a:t>1</a:t>
            </a:r>
            <a:endParaRPr lang="en-US" sz="1800" dirty="0"/>
          </a:p>
        </p:txBody>
      </p:sp>
      <p:sp>
        <p:nvSpPr>
          <p:cNvPr id="6" name="Text 4"/>
          <p:cNvSpPr txBox="1"/>
          <p:nvPr/>
        </p:nvSpPr>
        <p:spPr>
          <a:xfrm>
            <a:off x="822960" y="2560320"/>
            <a:ext cx="3017520" cy="2743200"/>
          </a:xfrm>
          <a:prstGeom prst="rect">
            <a:avLst/>
          </a:prstGeom>
          <a:noFill/>
          <a:ln/>
        </p:spPr>
        <p:txBody>
          <a:bodyPr wrap="square" lIns="0" tIns="0" rIns="0" bIns="0" rtlCol="0" anchor="t"/>
          <a:lstStyle/>
          <a:p>
            <a:pPr indent="0" marL="0">
              <a:buNone/>
            </a:pPr>
            <a:r>
              <a:rPr lang="en-US" sz="1800" dirty="0">
                <a:solidFill>
                  <a:srgbClr val="1F1F1F"/>
                </a:solidFill>
              </a:rPr>
              <a:t>Build and validate a panel-method solver for NACA 4-digit airfoils in Python</a:t>
            </a:r>
            <a:endParaRPr lang="en-US" sz="1800" dirty="0"/>
          </a:p>
        </p:txBody>
      </p:sp>
      <p:sp>
        <p:nvSpPr>
          <p:cNvPr id="7" name="Shape 5"/>
          <p:cNvSpPr/>
          <p:nvPr/>
        </p:nvSpPr>
        <p:spPr>
          <a:xfrm>
            <a:off x="4343400" y="1554480"/>
            <a:ext cx="3520440" cy="3931920"/>
          </a:xfrm>
          <a:prstGeom prst="roundRect">
            <a:avLst>
              <a:gd name="adj" fmla="val 3117"/>
            </a:avLst>
          </a:prstGeom>
          <a:solidFill>
            <a:srgbClr val="F3EEFB"/>
          </a:solidFill>
          <a:ln w="12700">
            <a:solidFill>
              <a:srgbClr val="F3EEFB"/>
            </a:solidFill>
            <a:prstDash val="solid"/>
          </a:ln>
          <a:effectLst>
            <a:outerShdw sx="100000" sy="100000" kx="0" ky="0" algn="bl" rotWithShape="0" blurRad="76200" dist="25400" dir="5400000">
              <a:srgbClr val="000000">
                <a:alpha val="12000"/>
              </a:srgbClr>
            </a:outerShdw>
          </a:effectLst>
        </p:spPr>
      </p:sp>
      <p:sp>
        <p:nvSpPr>
          <p:cNvPr id="8" name="num2"/>
          <p:cNvSpPr/>
          <p:nvPr/>
        </p:nvSpPr>
        <p:spPr>
          <a:xfrm>
            <a:off x="4617720" y="1828800"/>
            <a:ext cx="502920" cy="502920"/>
          </a:xfrm>
          <a:prstGeom prst="ellipse">
            <a:avLst/>
          </a:prstGeom>
          <a:solidFill>
            <a:schemeClr val="accent2"/>
          </a:solidFill>
          <a:ln w="12700">
            <a:solidFill>
              <a:schemeClr val="accent2"/>
            </a:solidFill>
            <a:prstDash val="solid"/>
          </a:ln>
        </p:spPr>
      </p:sp>
      <p:sp>
        <p:nvSpPr>
          <p:cNvPr id="9" name="Text 7"/>
          <p:cNvSpPr txBox="1"/>
          <p:nvPr/>
        </p:nvSpPr>
        <p:spPr>
          <a:xfrm>
            <a:off x="4617720" y="1828800"/>
            <a:ext cx="502920" cy="502920"/>
          </a:xfrm>
          <a:prstGeom prst="rect">
            <a:avLst/>
          </a:prstGeom>
          <a:noFill/>
          <a:ln/>
        </p:spPr>
        <p:txBody>
          <a:bodyPr wrap="square" lIns="0" tIns="0" rIns="0" bIns="0" rtlCol="0" anchor="ctr"/>
          <a:lstStyle/>
          <a:p>
            <a:pPr algn="ctr" indent="0" marL="0">
              <a:buNone/>
            </a:pPr>
            <a:r>
              <a:rPr lang="en-US" sz="1800" b="1" dirty="0">
                <a:solidFill>
                  <a:srgbClr val="2A0D5C"/>
                </a:solidFill>
                <a:latin typeface="Times New Roman" pitchFamily="34" charset="0"/>
                <a:ea typeface="Times New Roman" pitchFamily="34" charset="-122"/>
                <a:cs typeface="Times New Roman" pitchFamily="34" charset="-120"/>
              </a:rPr>
              <a:t>2</a:t>
            </a:r>
            <a:endParaRPr lang="en-US" sz="1800" dirty="0"/>
          </a:p>
        </p:txBody>
      </p:sp>
      <p:sp>
        <p:nvSpPr>
          <p:cNvPr id="10" name="Text 8"/>
          <p:cNvSpPr txBox="1"/>
          <p:nvPr/>
        </p:nvSpPr>
        <p:spPr>
          <a:xfrm>
            <a:off x="4617720" y="2560320"/>
            <a:ext cx="3017520" cy="2743200"/>
          </a:xfrm>
          <a:prstGeom prst="rect">
            <a:avLst/>
          </a:prstGeom>
          <a:noFill/>
          <a:ln/>
        </p:spPr>
        <p:txBody>
          <a:bodyPr wrap="square" lIns="0" tIns="0" rIns="0" bIns="0" rtlCol="0" anchor="t"/>
          <a:lstStyle/>
          <a:p>
            <a:pPr indent="0" marL="0">
              <a:buNone/>
            </a:pPr>
            <a:r>
              <a:rPr lang="en-US" sz="1800" dirty="0">
                <a:solidFill>
                  <a:srgbClr val="1F1F1F"/>
                </a:solidFill>
              </a:rPr>
              <a:t>Generate a dataset of 3,000 airfoil cases (shape + angle of attack)</a:t>
            </a:r>
            <a:endParaRPr lang="en-US" sz="1800" dirty="0"/>
          </a:p>
        </p:txBody>
      </p:sp>
      <p:sp>
        <p:nvSpPr>
          <p:cNvPr id="11" name="Shape 9"/>
          <p:cNvSpPr/>
          <p:nvPr/>
        </p:nvSpPr>
        <p:spPr>
          <a:xfrm>
            <a:off x="8138160" y="1554480"/>
            <a:ext cx="3520440" cy="3931920"/>
          </a:xfrm>
          <a:prstGeom prst="roundRect">
            <a:avLst>
              <a:gd name="adj" fmla="val 3117"/>
            </a:avLst>
          </a:prstGeom>
          <a:solidFill>
            <a:srgbClr val="F3EEFB"/>
          </a:solidFill>
          <a:ln w="12700">
            <a:solidFill>
              <a:srgbClr val="F3EEFB"/>
            </a:solidFill>
            <a:prstDash val="solid"/>
          </a:ln>
          <a:effectLst>
            <a:outerShdw sx="100000" sy="100000" kx="0" ky="0" algn="bl" rotWithShape="0" blurRad="76200" dist="25400" dir="5400000">
              <a:srgbClr val="000000">
                <a:alpha val="12000"/>
              </a:srgbClr>
            </a:outerShdw>
          </a:effectLst>
        </p:spPr>
      </p:sp>
      <p:sp>
        <p:nvSpPr>
          <p:cNvPr id="12" name="num3"/>
          <p:cNvSpPr/>
          <p:nvPr/>
        </p:nvSpPr>
        <p:spPr>
          <a:xfrm>
            <a:off x="8412480" y="1828800"/>
            <a:ext cx="502920" cy="502920"/>
          </a:xfrm>
          <a:prstGeom prst="ellipse">
            <a:avLst/>
          </a:prstGeom>
          <a:solidFill>
            <a:schemeClr val="accent2"/>
          </a:solidFill>
          <a:ln w="12700">
            <a:solidFill>
              <a:schemeClr val="accent2"/>
            </a:solidFill>
            <a:prstDash val="solid"/>
          </a:ln>
        </p:spPr>
      </p:sp>
      <p:sp>
        <p:nvSpPr>
          <p:cNvPr id="13" name="Text 11"/>
          <p:cNvSpPr txBox="1"/>
          <p:nvPr/>
        </p:nvSpPr>
        <p:spPr>
          <a:xfrm>
            <a:off x="8412480" y="1828800"/>
            <a:ext cx="502920" cy="502920"/>
          </a:xfrm>
          <a:prstGeom prst="rect">
            <a:avLst/>
          </a:prstGeom>
          <a:noFill/>
          <a:ln/>
        </p:spPr>
        <p:txBody>
          <a:bodyPr wrap="square" lIns="0" tIns="0" rIns="0" bIns="0" rtlCol="0" anchor="ctr"/>
          <a:lstStyle/>
          <a:p>
            <a:pPr algn="ctr" indent="0" marL="0">
              <a:buNone/>
            </a:pPr>
            <a:r>
              <a:rPr lang="en-US" sz="1800" b="1" dirty="0">
                <a:solidFill>
                  <a:srgbClr val="2A0D5C"/>
                </a:solidFill>
                <a:latin typeface="Times New Roman" pitchFamily="34" charset="0"/>
                <a:ea typeface="Times New Roman" pitchFamily="34" charset="-122"/>
                <a:cs typeface="Times New Roman" pitchFamily="34" charset="-120"/>
              </a:rPr>
              <a:t>3</a:t>
            </a:r>
            <a:endParaRPr lang="en-US" sz="1800" dirty="0"/>
          </a:p>
        </p:txBody>
      </p:sp>
      <p:sp>
        <p:nvSpPr>
          <p:cNvPr id="14" name="Text 12"/>
          <p:cNvSpPr txBox="1"/>
          <p:nvPr/>
        </p:nvSpPr>
        <p:spPr>
          <a:xfrm>
            <a:off x="8412480" y="2560320"/>
            <a:ext cx="3017520" cy="2743200"/>
          </a:xfrm>
          <a:prstGeom prst="rect">
            <a:avLst/>
          </a:prstGeom>
          <a:noFill/>
          <a:ln/>
        </p:spPr>
        <p:txBody>
          <a:bodyPr wrap="square" lIns="0" tIns="0" rIns="0" bIns="0" rtlCol="0" anchor="t"/>
          <a:lstStyle/>
          <a:p>
            <a:pPr indent="0" marL="0">
              <a:buNone/>
            </a:pPr>
            <a:r>
              <a:rPr lang="en-US" sz="1800" dirty="0">
                <a:solidFill>
                  <a:srgbClr val="1F1F1F"/>
                </a:solidFill>
              </a:rPr>
              <a:t>Train and compare Linear Regression, Random Forest and ANN models to predict CL and Cp,min</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Times New Roman" pitchFamily="34" charset="0"/>
                <a:ea typeface="Times New Roman" pitchFamily="34" charset="-122"/>
                <a:cs typeface="Times New Roman" pitchFamily="34" charset="-120"/>
              </a:rPr>
              <a:t>Understanding NACA 4-digit airfoils</a:t>
            </a:r>
            <a:endParaRPr lang="en-US" sz="3400" dirty="0"/>
          </a:p>
        </p:txBody>
      </p:sp>
      <p:sp>
        <p:nvSpPr>
          <p:cNvPr id="3" name="Text 1"/>
          <p:cNvSpPr txBox="1"/>
          <p:nvPr/>
        </p:nvSpPr>
        <p:spPr>
          <a:xfrm>
            <a:off x="548640" y="1463040"/>
            <a:ext cx="5486400" cy="914400"/>
          </a:xfrm>
          <a:prstGeom prst="rect">
            <a:avLst/>
          </a:prstGeom>
          <a:noFill/>
          <a:ln/>
        </p:spPr>
        <p:txBody>
          <a:bodyPr wrap="square" lIns="0" tIns="0" rIns="0" bIns="0" rtlCol="0" anchor="ctr"/>
          <a:lstStyle/>
          <a:p>
            <a:pPr indent="0" marL="0">
              <a:buNone/>
            </a:pPr>
            <a:r>
              <a:rPr lang="en-US" sz="5400" b="1" dirty="0">
                <a:solidFill>
                  <a:schemeClr val="accent1"/>
                </a:solidFill>
                <a:latin typeface="Times New Roman" pitchFamily="34" charset="0"/>
                <a:ea typeface="Times New Roman" pitchFamily="34" charset="-122"/>
                <a:cs typeface="Times New Roman" pitchFamily="34" charset="-120"/>
              </a:rPr>
              <a:t>NACA 2412</a:t>
            </a:r>
            <a:endParaRPr lang="en-US" sz="5400" dirty="0"/>
          </a:p>
        </p:txBody>
      </p:sp>
      <p:sp>
        <p:nvSpPr>
          <p:cNvPr id="4" name="Shape 2"/>
          <p:cNvSpPr/>
          <p:nvPr/>
        </p:nvSpPr>
        <p:spPr>
          <a:xfrm>
            <a:off x="548640" y="2697480"/>
            <a:ext cx="1005840" cy="731520"/>
          </a:xfrm>
          <a:prstGeom prst="roundRect">
            <a:avLst>
              <a:gd name="adj" fmla="val 12500"/>
            </a:avLst>
          </a:prstGeom>
          <a:solidFill>
            <a:schemeClr val="accent1"/>
          </a:solidFill>
          <a:ln w="12700">
            <a:solidFill>
              <a:schemeClr val="accent1"/>
            </a:solidFill>
            <a:prstDash val="solid"/>
          </a:ln>
        </p:spPr>
      </p:sp>
      <p:sp>
        <p:nvSpPr>
          <p:cNvPr id="5" name="Text 3"/>
          <p:cNvSpPr txBox="1"/>
          <p:nvPr/>
        </p:nvSpPr>
        <p:spPr>
          <a:xfrm>
            <a:off x="548640" y="2697480"/>
            <a:ext cx="100584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Times New Roman" pitchFamily="34" charset="0"/>
                <a:ea typeface="Times New Roman" pitchFamily="34" charset="-122"/>
                <a:cs typeface="Times New Roman" pitchFamily="34" charset="-120"/>
              </a:rPr>
              <a:t>2</a:t>
            </a:r>
            <a:endParaRPr lang="en-US" sz="2600" dirty="0"/>
          </a:p>
        </p:txBody>
      </p:sp>
      <p:sp>
        <p:nvSpPr>
          <p:cNvPr id="6" name="Text 4"/>
          <p:cNvSpPr txBox="1"/>
          <p:nvPr/>
        </p:nvSpPr>
        <p:spPr>
          <a:xfrm>
            <a:off x="1783080" y="2697480"/>
            <a:ext cx="4389120" cy="731520"/>
          </a:xfrm>
          <a:prstGeom prst="rect">
            <a:avLst/>
          </a:prstGeom>
          <a:noFill/>
          <a:ln/>
        </p:spPr>
        <p:txBody>
          <a:bodyPr wrap="square" lIns="0" tIns="0" rIns="0" bIns="0" rtlCol="0" anchor="ctr"/>
          <a:lstStyle/>
          <a:p>
            <a:pPr indent="0" marL="0">
              <a:buNone/>
            </a:pPr>
            <a:r>
              <a:rPr lang="en-US" sz="1900" dirty="0">
                <a:solidFill>
                  <a:srgbClr val="1F1F1F"/>
                </a:solidFill>
              </a:rPr>
              <a:t>Maximum camber = 2% of chord</a:t>
            </a:r>
            <a:endParaRPr lang="en-US" sz="1900" dirty="0"/>
          </a:p>
        </p:txBody>
      </p:sp>
      <p:sp>
        <p:nvSpPr>
          <p:cNvPr id="7" name="Shape 5"/>
          <p:cNvSpPr/>
          <p:nvPr/>
        </p:nvSpPr>
        <p:spPr>
          <a:xfrm>
            <a:off x="548640" y="3703320"/>
            <a:ext cx="1005840" cy="731520"/>
          </a:xfrm>
          <a:prstGeom prst="roundRect">
            <a:avLst>
              <a:gd name="adj" fmla="val 12500"/>
            </a:avLst>
          </a:prstGeom>
          <a:solidFill>
            <a:schemeClr val="accent1"/>
          </a:solidFill>
          <a:ln w="12700">
            <a:solidFill>
              <a:schemeClr val="accent1"/>
            </a:solidFill>
            <a:prstDash val="solid"/>
          </a:ln>
        </p:spPr>
      </p:sp>
      <p:sp>
        <p:nvSpPr>
          <p:cNvPr id="8" name="Text 6"/>
          <p:cNvSpPr txBox="1"/>
          <p:nvPr/>
        </p:nvSpPr>
        <p:spPr>
          <a:xfrm>
            <a:off x="548640" y="3703320"/>
            <a:ext cx="100584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Times New Roman" pitchFamily="34" charset="0"/>
                <a:ea typeface="Times New Roman" pitchFamily="34" charset="-122"/>
                <a:cs typeface="Times New Roman" pitchFamily="34" charset="-120"/>
              </a:rPr>
              <a:t>4</a:t>
            </a:r>
            <a:endParaRPr lang="en-US" sz="2600" dirty="0"/>
          </a:p>
        </p:txBody>
      </p:sp>
      <p:sp>
        <p:nvSpPr>
          <p:cNvPr id="9" name="Text 7"/>
          <p:cNvSpPr txBox="1"/>
          <p:nvPr/>
        </p:nvSpPr>
        <p:spPr>
          <a:xfrm>
            <a:off x="1783080" y="3703320"/>
            <a:ext cx="4389120" cy="731520"/>
          </a:xfrm>
          <a:prstGeom prst="rect">
            <a:avLst/>
          </a:prstGeom>
          <a:noFill/>
          <a:ln/>
        </p:spPr>
        <p:txBody>
          <a:bodyPr wrap="square" lIns="0" tIns="0" rIns="0" bIns="0" rtlCol="0" anchor="ctr"/>
          <a:lstStyle/>
          <a:p>
            <a:pPr indent="0" marL="0">
              <a:buNone/>
            </a:pPr>
            <a:r>
              <a:rPr lang="en-US" sz="1900" dirty="0">
                <a:solidFill>
                  <a:srgbClr val="1F1F1F"/>
                </a:solidFill>
              </a:rPr>
              <a:t>Position of max camber = 40% of chord</a:t>
            </a:r>
            <a:endParaRPr lang="en-US" sz="1900" dirty="0"/>
          </a:p>
        </p:txBody>
      </p:sp>
      <p:sp>
        <p:nvSpPr>
          <p:cNvPr id="10" name="Shape 8"/>
          <p:cNvSpPr/>
          <p:nvPr/>
        </p:nvSpPr>
        <p:spPr>
          <a:xfrm>
            <a:off x="548640" y="4709160"/>
            <a:ext cx="1005840" cy="731520"/>
          </a:xfrm>
          <a:prstGeom prst="roundRect">
            <a:avLst>
              <a:gd name="adj" fmla="val 12500"/>
            </a:avLst>
          </a:prstGeom>
          <a:solidFill>
            <a:schemeClr val="accent1"/>
          </a:solidFill>
          <a:ln w="12700">
            <a:solidFill>
              <a:schemeClr val="accent1"/>
            </a:solidFill>
            <a:prstDash val="solid"/>
          </a:ln>
        </p:spPr>
      </p:sp>
      <p:sp>
        <p:nvSpPr>
          <p:cNvPr id="11" name="Text 9"/>
          <p:cNvSpPr txBox="1"/>
          <p:nvPr/>
        </p:nvSpPr>
        <p:spPr>
          <a:xfrm>
            <a:off x="548640" y="4709160"/>
            <a:ext cx="100584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Times New Roman" pitchFamily="34" charset="0"/>
                <a:ea typeface="Times New Roman" pitchFamily="34" charset="-122"/>
                <a:cs typeface="Times New Roman" pitchFamily="34" charset="-120"/>
              </a:rPr>
              <a:t>12</a:t>
            </a:r>
            <a:endParaRPr lang="en-US" sz="2600" dirty="0"/>
          </a:p>
        </p:txBody>
      </p:sp>
      <p:sp>
        <p:nvSpPr>
          <p:cNvPr id="12" name="Text 10"/>
          <p:cNvSpPr txBox="1"/>
          <p:nvPr/>
        </p:nvSpPr>
        <p:spPr>
          <a:xfrm>
            <a:off x="1783080" y="4709160"/>
            <a:ext cx="4389120" cy="731520"/>
          </a:xfrm>
          <a:prstGeom prst="rect">
            <a:avLst/>
          </a:prstGeom>
          <a:noFill/>
          <a:ln/>
        </p:spPr>
        <p:txBody>
          <a:bodyPr wrap="square" lIns="0" tIns="0" rIns="0" bIns="0" rtlCol="0" anchor="ctr"/>
          <a:lstStyle/>
          <a:p>
            <a:pPr indent="0" marL="0">
              <a:buNone/>
            </a:pPr>
            <a:r>
              <a:rPr lang="en-US" sz="1900" dirty="0">
                <a:solidFill>
                  <a:srgbClr val="1F1F1F"/>
                </a:solidFill>
              </a:rPr>
              <a:t>Maximum thickness = 12% of chord</a:t>
            </a:r>
            <a:endParaRPr lang="en-US" sz="1900" dirty="0"/>
          </a:p>
        </p:txBody>
      </p:sp>
      <p:sp>
        <p:nvSpPr>
          <p:cNvPr id="13" name="Shape 11"/>
          <p:cNvSpPr/>
          <p:nvPr/>
        </p:nvSpPr>
        <p:spPr>
          <a:xfrm>
            <a:off x="6675120" y="1463040"/>
            <a:ext cx="4937760" cy="4480560"/>
          </a:xfrm>
          <a:prstGeom prst="roundRect">
            <a:avLst>
              <a:gd name="adj" fmla="val 2449"/>
            </a:avLst>
          </a:prstGeom>
          <a:solidFill>
            <a:srgbClr val="F3EEFB"/>
          </a:solidFill>
          <a:ln w="12700">
            <a:solidFill>
              <a:srgbClr val="F3EEFB"/>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6949440" y="1691640"/>
            <a:ext cx="4480560" cy="4114800"/>
          </a:xfrm>
          <a:prstGeom prst="rect">
            <a:avLst/>
          </a:prstGeom>
          <a:noFill/>
          <a:ln/>
        </p:spPr>
        <p:txBody>
          <a:bodyPr wrap="square" rtlCol="0" anchor="t"/>
          <a:lstStyle/>
          <a:p>
            <a:pPr indent="0" marL="0">
              <a:spcAft>
                <a:spcPts val="400"/>
              </a:spcAft>
              <a:buNone/>
            </a:pPr>
            <a:r>
              <a:rPr lang="en-US" sz="2000" b="1" dirty="0">
                <a:solidFill>
                  <a:srgbClr val="4A1D8C"/>
                </a:solidFill>
              </a:rPr>
              <a:t>Inputs to our model</a:t>
            </a:r>
            <a:endParaRPr lang="en-US" sz="1800" dirty="0"/>
          </a:p>
          <a:p>
            <a:pPr marL="342900" indent="-342900">
              <a:spcAft>
                <a:spcPts val="400"/>
              </a:spcAft>
              <a:buSzPct val="100000"/>
              <a:buChar char="•"/>
            </a:pPr>
            <a:r>
              <a:rPr lang="en-US" sz="1800" dirty="0">
                <a:solidFill>
                  <a:srgbClr val="1F1F1F"/>
                </a:solidFill>
              </a:rPr>
              <a:t>Camber m: 0 – 6%</a:t>
            </a:r>
            <a:endParaRPr lang="en-US" sz="1800" dirty="0"/>
          </a:p>
          <a:p>
            <a:pPr marL="342900" indent="-342900">
              <a:spcAft>
                <a:spcPts val="400"/>
              </a:spcAft>
              <a:buSzPct val="100000"/>
              <a:buChar char="•"/>
            </a:pPr>
            <a:r>
              <a:rPr lang="en-US" sz="1800" dirty="0">
                <a:solidFill>
                  <a:srgbClr val="1F1F1F"/>
                </a:solidFill>
              </a:rPr>
              <a:t>Camber position p: 20 – 60%</a:t>
            </a:r>
            <a:endParaRPr lang="en-US" sz="1800" dirty="0"/>
          </a:p>
          <a:p>
            <a:pPr marL="342900" indent="-342900">
              <a:spcAft>
                <a:spcPts val="400"/>
              </a:spcAft>
              <a:buSzPct val="100000"/>
              <a:buChar char="•"/>
            </a:pPr>
            <a:r>
              <a:rPr lang="en-US" sz="1800" dirty="0">
                <a:solidFill>
                  <a:srgbClr val="1F1F1F"/>
                </a:solidFill>
              </a:rPr>
              <a:t>Thickness t: 8 – 18%</a:t>
            </a:r>
            <a:endParaRPr lang="en-US" sz="1800" dirty="0"/>
          </a:p>
          <a:p>
            <a:pPr marL="342900" indent="-342900">
              <a:spcAft>
                <a:spcPts val="400"/>
              </a:spcAft>
              <a:buSzPct val="100000"/>
              <a:buChar char="•"/>
            </a:pPr>
            <a:r>
              <a:rPr lang="en-US" sz="1800" dirty="0">
                <a:solidFill>
                  <a:srgbClr val="1F1F1F"/>
                </a:solidFill>
              </a:rPr>
              <a:t>Angle of attack α: −4° to 12°</a:t>
            </a:r>
            <a:endParaRPr lang="en-US" sz="1800" dirty="0"/>
          </a:p>
          <a:p>
            <a:pPr indent="0" marL="0">
              <a:spcAft>
                <a:spcPts val="400"/>
              </a:spcAft>
              <a:buNone/>
            </a:pPr>
            <a:r>
              <a:rPr lang="en-US" sz="1800" dirty="0">
                <a:solidFill>
                  <a:srgbClr val="1F1F1F"/>
                </a:solidFill>
              </a:rPr>
              <a:t> </a:t>
            </a:r>
            <a:endParaRPr lang="en-US" sz="1800" dirty="0"/>
          </a:p>
          <a:p>
            <a:pPr indent="0" marL="0">
              <a:spcAft>
                <a:spcPts val="400"/>
              </a:spcAft>
              <a:buNone/>
            </a:pPr>
            <a:r>
              <a:rPr lang="en-US" sz="2000" b="1" dirty="0">
                <a:solidFill>
                  <a:srgbClr val="4A1D8C"/>
                </a:solidFill>
              </a:rPr>
              <a:t>Outputs</a:t>
            </a:r>
            <a:endParaRPr lang="en-US" sz="1800" dirty="0"/>
          </a:p>
          <a:p>
            <a:pPr marL="342900" indent="-342900">
              <a:spcAft>
                <a:spcPts val="400"/>
              </a:spcAft>
              <a:buSzPct val="100000"/>
              <a:buChar char="•"/>
            </a:pPr>
            <a:r>
              <a:rPr lang="en-US" sz="1800" dirty="0">
                <a:solidFill>
                  <a:srgbClr val="1F1F1F"/>
                </a:solidFill>
              </a:rPr>
              <a:t>Lift coefficient CL</a:t>
            </a:r>
            <a:endParaRPr lang="en-US" sz="1800" dirty="0"/>
          </a:p>
          <a:p>
            <a:pPr marL="342900" indent="-342900">
              <a:spcAft>
                <a:spcPts val="400"/>
              </a:spcAft>
              <a:buSzPct val="100000"/>
              <a:buChar char="•"/>
            </a:pPr>
            <a:r>
              <a:rPr lang="en-US" sz="1800" dirty="0">
                <a:solidFill>
                  <a:srgbClr val="1F1F1F"/>
                </a:solidFill>
              </a:rPr>
              <a:t>Suction peak Cp,min</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Times New Roman" pitchFamily="34" charset="0"/>
                <a:ea typeface="Times New Roman" pitchFamily="34" charset="-122"/>
                <a:cs typeface="Times New Roman" pitchFamily="34" charset="-120"/>
              </a:rPr>
              <a:t>Methodology</a:t>
            </a:r>
            <a:endParaRPr lang="en-US" sz="3400" dirty="0"/>
          </a:p>
        </p:txBody>
      </p:sp>
      <p:sp>
        <p:nvSpPr>
          <p:cNvPr id="3" name="Shape 1"/>
          <p:cNvSpPr/>
          <p:nvPr/>
        </p:nvSpPr>
        <p:spPr>
          <a:xfrm>
            <a:off x="548640" y="1828800"/>
            <a:ext cx="2011680" cy="2926080"/>
          </a:xfrm>
          <a:prstGeom prst="roundRect">
            <a:avLst>
              <a:gd name="adj" fmla="val 5455"/>
            </a:avLst>
          </a:prstGeom>
          <a:solidFill>
            <a:srgbClr val="F3EEFB"/>
          </a:solidFill>
          <a:ln w="12700">
            <a:solidFill>
              <a:srgbClr val="F3EEFB"/>
            </a:solidFill>
            <a:prstDash val="solid"/>
          </a:ln>
          <a:effectLst>
            <a:outerShdw sx="100000" sy="100000" kx="0" ky="0" algn="bl" rotWithShape="0" blurRad="76200" dist="25400" dir="5400000">
              <a:srgbClr val="000000">
                <a:alpha val="12000"/>
              </a:srgbClr>
            </a:outerShdw>
          </a:effectLst>
        </p:spPr>
      </p:sp>
      <p:sp>
        <p:nvSpPr>
          <p:cNvPr id="4" name="num1"/>
          <p:cNvSpPr/>
          <p:nvPr/>
        </p:nvSpPr>
        <p:spPr>
          <a:xfrm>
            <a:off x="1298448" y="2057400"/>
            <a:ext cx="502920" cy="502920"/>
          </a:xfrm>
          <a:prstGeom prst="ellipse">
            <a:avLst/>
          </a:prstGeom>
          <a:solidFill>
            <a:schemeClr val="accent2"/>
          </a:solidFill>
          <a:ln w="12700">
            <a:solidFill>
              <a:schemeClr val="accent2"/>
            </a:solidFill>
            <a:prstDash val="solid"/>
          </a:ln>
        </p:spPr>
      </p:sp>
      <p:sp>
        <p:nvSpPr>
          <p:cNvPr id="5" name="Text 3"/>
          <p:cNvSpPr txBox="1"/>
          <p:nvPr/>
        </p:nvSpPr>
        <p:spPr>
          <a:xfrm>
            <a:off x="1298448" y="2057400"/>
            <a:ext cx="502920" cy="502920"/>
          </a:xfrm>
          <a:prstGeom prst="rect">
            <a:avLst/>
          </a:prstGeom>
          <a:noFill/>
          <a:ln/>
        </p:spPr>
        <p:txBody>
          <a:bodyPr wrap="square" lIns="0" tIns="0" rIns="0" bIns="0" rtlCol="0" anchor="ctr"/>
          <a:lstStyle/>
          <a:p>
            <a:pPr algn="ctr" indent="0" marL="0">
              <a:buNone/>
            </a:pPr>
            <a:r>
              <a:rPr lang="en-US" sz="1800" b="1" dirty="0">
                <a:solidFill>
                  <a:srgbClr val="2A0D5C"/>
                </a:solidFill>
                <a:latin typeface="Times New Roman" pitchFamily="34" charset="0"/>
                <a:ea typeface="Times New Roman" pitchFamily="34" charset="-122"/>
                <a:cs typeface="Times New Roman" pitchFamily="34" charset="-120"/>
              </a:rPr>
              <a:t>1</a:t>
            </a:r>
            <a:endParaRPr lang="en-US" sz="1800" dirty="0"/>
          </a:p>
        </p:txBody>
      </p:sp>
      <p:sp>
        <p:nvSpPr>
          <p:cNvPr id="6" name="Text 4"/>
          <p:cNvSpPr txBox="1"/>
          <p:nvPr/>
        </p:nvSpPr>
        <p:spPr>
          <a:xfrm>
            <a:off x="640080" y="2743200"/>
            <a:ext cx="1828800" cy="731520"/>
          </a:xfrm>
          <a:prstGeom prst="rect">
            <a:avLst/>
          </a:prstGeom>
          <a:noFill/>
          <a:ln/>
        </p:spPr>
        <p:txBody>
          <a:bodyPr wrap="square" lIns="0" tIns="0" rIns="0" bIns="0" rtlCol="0" anchor="ctr"/>
          <a:lstStyle/>
          <a:p>
            <a:pPr algn="ctr" indent="0" marL="0">
              <a:buNone/>
            </a:pPr>
            <a:r>
              <a:rPr lang="en-US" sz="1800" b="1" dirty="0">
                <a:solidFill>
                  <a:srgbClr val="2A0D5C"/>
                </a:solidFill>
                <a:latin typeface="Times New Roman" pitchFamily="34" charset="0"/>
                <a:ea typeface="Times New Roman" pitchFamily="34" charset="-122"/>
                <a:cs typeface="Times New Roman" pitchFamily="34" charset="-120"/>
              </a:rPr>
              <a:t>Airfoil geometry</a:t>
            </a:r>
            <a:endParaRPr lang="en-US" sz="1800" dirty="0"/>
          </a:p>
        </p:txBody>
      </p:sp>
      <p:sp>
        <p:nvSpPr>
          <p:cNvPr id="7" name="Text 5"/>
          <p:cNvSpPr txBox="1"/>
          <p:nvPr/>
        </p:nvSpPr>
        <p:spPr>
          <a:xfrm>
            <a:off x="685800" y="3520440"/>
            <a:ext cx="1737360" cy="1005840"/>
          </a:xfrm>
          <a:prstGeom prst="rect">
            <a:avLst/>
          </a:prstGeom>
          <a:noFill/>
          <a:ln/>
        </p:spPr>
        <p:txBody>
          <a:bodyPr wrap="square" lIns="0" tIns="0" rIns="0" bIns="0" rtlCol="0" anchor="t"/>
          <a:lstStyle/>
          <a:p>
            <a:pPr algn="ctr" indent="0" marL="0">
              <a:buNone/>
            </a:pPr>
            <a:r>
              <a:rPr lang="en-US" sz="1400" dirty="0">
                <a:solidFill>
                  <a:srgbClr val="333333"/>
                </a:solidFill>
              </a:rPr>
              <a:t>NACA 4-digit equations, 160 panels</a:t>
            </a:r>
            <a:endParaRPr lang="en-US" sz="1400" dirty="0"/>
          </a:p>
        </p:txBody>
      </p:sp>
      <p:sp>
        <p:nvSpPr>
          <p:cNvPr id="8" name="Shape 6"/>
          <p:cNvSpPr/>
          <p:nvPr/>
        </p:nvSpPr>
        <p:spPr>
          <a:xfrm>
            <a:off x="2578608" y="3108960"/>
            <a:ext cx="237744" cy="365760"/>
          </a:xfrm>
          <a:prstGeom prst="rightArrow">
            <a:avLst/>
          </a:prstGeom>
          <a:solidFill>
            <a:schemeClr val="accent2"/>
          </a:solidFill>
          <a:ln w="12700">
            <a:solidFill>
              <a:schemeClr val="accent2"/>
            </a:solidFill>
            <a:prstDash val="solid"/>
          </a:ln>
        </p:spPr>
      </p:sp>
      <p:sp>
        <p:nvSpPr>
          <p:cNvPr id="9" name="Shape 7"/>
          <p:cNvSpPr/>
          <p:nvPr/>
        </p:nvSpPr>
        <p:spPr>
          <a:xfrm>
            <a:off x="2834640" y="1828800"/>
            <a:ext cx="2011680" cy="2926080"/>
          </a:xfrm>
          <a:prstGeom prst="roundRect">
            <a:avLst>
              <a:gd name="adj" fmla="val 5455"/>
            </a:avLst>
          </a:prstGeom>
          <a:solidFill>
            <a:srgbClr val="F3EEFB"/>
          </a:solidFill>
          <a:ln w="12700">
            <a:solidFill>
              <a:srgbClr val="F3EEFB"/>
            </a:solidFill>
            <a:prstDash val="solid"/>
          </a:ln>
          <a:effectLst>
            <a:outerShdw sx="100000" sy="100000" kx="0" ky="0" algn="bl" rotWithShape="0" blurRad="76200" dist="25400" dir="5400000">
              <a:srgbClr val="000000">
                <a:alpha val="12000"/>
              </a:srgbClr>
            </a:outerShdw>
          </a:effectLst>
        </p:spPr>
      </p:sp>
      <p:sp>
        <p:nvSpPr>
          <p:cNvPr id="10" name="num2"/>
          <p:cNvSpPr/>
          <p:nvPr/>
        </p:nvSpPr>
        <p:spPr>
          <a:xfrm>
            <a:off x="3584448" y="2057400"/>
            <a:ext cx="502920" cy="502920"/>
          </a:xfrm>
          <a:prstGeom prst="ellipse">
            <a:avLst/>
          </a:prstGeom>
          <a:solidFill>
            <a:schemeClr val="accent2"/>
          </a:solidFill>
          <a:ln w="12700">
            <a:solidFill>
              <a:schemeClr val="accent2"/>
            </a:solidFill>
            <a:prstDash val="solid"/>
          </a:ln>
        </p:spPr>
      </p:sp>
      <p:sp>
        <p:nvSpPr>
          <p:cNvPr id="11" name="Text 9"/>
          <p:cNvSpPr txBox="1"/>
          <p:nvPr/>
        </p:nvSpPr>
        <p:spPr>
          <a:xfrm>
            <a:off x="3584448" y="2057400"/>
            <a:ext cx="502920" cy="502920"/>
          </a:xfrm>
          <a:prstGeom prst="rect">
            <a:avLst/>
          </a:prstGeom>
          <a:noFill/>
          <a:ln/>
        </p:spPr>
        <p:txBody>
          <a:bodyPr wrap="square" lIns="0" tIns="0" rIns="0" bIns="0" rtlCol="0" anchor="ctr"/>
          <a:lstStyle/>
          <a:p>
            <a:pPr algn="ctr" indent="0" marL="0">
              <a:buNone/>
            </a:pPr>
            <a:r>
              <a:rPr lang="en-US" sz="1800" b="1" dirty="0">
                <a:solidFill>
                  <a:srgbClr val="2A0D5C"/>
                </a:solidFill>
                <a:latin typeface="Times New Roman" pitchFamily="34" charset="0"/>
                <a:ea typeface="Times New Roman" pitchFamily="34" charset="-122"/>
                <a:cs typeface="Times New Roman" pitchFamily="34" charset="-120"/>
              </a:rPr>
              <a:t>2</a:t>
            </a:r>
            <a:endParaRPr lang="en-US" sz="1800" dirty="0"/>
          </a:p>
        </p:txBody>
      </p:sp>
      <p:sp>
        <p:nvSpPr>
          <p:cNvPr id="12" name="Text 10"/>
          <p:cNvSpPr txBox="1"/>
          <p:nvPr/>
        </p:nvSpPr>
        <p:spPr>
          <a:xfrm>
            <a:off x="2926080" y="2743200"/>
            <a:ext cx="1828800" cy="731520"/>
          </a:xfrm>
          <a:prstGeom prst="rect">
            <a:avLst/>
          </a:prstGeom>
          <a:noFill/>
          <a:ln/>
        </p:spPr>
        <p:txBody>
          <a:bodyPr wrap="square" lIns="0" tIns="0" rIns="0" bIns="0" rtlCol="0" anchor="ctr"/>
          <a:lstStyle/>
          <a:p>
            <a:pPr algn="ctr" indent="0" marL="0">
              <a:buNone/>
            </a:pPr>
            <a:r>
              <a:rPr lang="en-US" sz="1800" b="1" dirty="0">
                <a:solidFill>
                  <a:srgbClr val="2A0D5C"/>
                </a:solidFill>
                <a:latin typeface="Times New Roman" pitchFamily="34" charset="0"/>
                <a:ea typeface="Times New Roman" pitchFamily="34" charset="-122"/>
                <a:cs typeface="Times New Roman" pitchFamily="34" charset="-120"/>
              </a:rPr>
              <a:t>Panel method</a:t>
            </a:r>
            <a:endParaRPr lang="en-US" sz="1800" dirty="0"/>
          </a:p>
        </p:txBody>
      </p:sp>
      <p:sp>
        <p:nvSpPr>
          <p:cNvPr id="13" name="Text 11"/>
          <p:cNvSpPr txBox="1"/>
          <p:nvPr/>
        </p:nvSpPr>
        <p:spPr>
          <a:xfrm>
            <a:off x="2971800" y="3520440"/>
            <a:ext cx="1737360" cy="1005840"/>
          </a:xfrm>
          <a:prstGeom prst="rect">
            <a:avLst/>
          </a:prstGeom>
          <a:noFill/>
          <a:ln/>
        </p:spPr>
        <p:txBody>
          <a:bodyPr wrap="square" lIns="0" tIns="0" rIns="0" bIns="0" rtlCol="0" anchor="t"/>
          <a:lstStyle/>
          <a:p>
            <a:pPr algn="ctr" indent="0" marL="0">
              <a:buNone/>
            </a:pPr>
            <a:r>
              <a:rPr lang="en-US" sz="1400" dirty="0">
                <a:solidFill>
                  <a:srgbClr val="333333"/>
                </a:solidFill>
              </a:rPr>
              <a:t>Hess–Smith source–vortex solver</a:t>
            </a:r>
            <a:endParaRPr lang="en-US" sz="1400" dirty="0"/>
          </a:p>
        </p:txBody>
      </p:sp>
      <p:sp>
        <p:nvSpPr>
          <p:cNvPr id="14" name="Shape 12"/>
          <p:cNvSpPr/>
          <p:nvPr/>
        </p:nvSpPr>
        <p:spPr>
          <a:xfrm>
            <a:off x="4864608" y="3108960"/>
            <a:ext cx="237744" cy="365760"/>
          </a:xfrm>
          <a:prstGeom prst="rightArrow">
            <a:avLst/>
          </a:prstGeom>
          <a:solidFill>
            <a:schemeClr val="accent2"/>
          </a:solidFill>
          <a:ln w="12700">
            <a:solidFill>
              <a:schemeClr val="accent2"/>
            </a:solidFill>
            <a:prstDash val="solid"/>
          </a:ln>
        </p:spPr>
      </p:sp>
      <p:sp>
        <p:nvSpPr>
          <p:cNvPr id="15" name="Shape 13"/>
          <p:cNvSpPr/>
          <p:nvPr/>
        </p:nvSpPr>
        <p:spPr>
          <a:xfrm>
            <a:off x="5120640" y="1828800"/>
            <a:ext cx="2011680" cy="2926080"/>
          </a:xfrm>
          <a:prstGeom prst="roundRect">
            <a:avLst>
              <a:gd name="adj" fmla="val 5455"/>
            </a:avLst>
          </a:prstGeom>
          <a:solidFill>
            <a:srgbClr val="F3EEFB"/>
          </a:solidFill>
          <a:ln w="12700">
            <a:solidFill>
              <a:srgbClr val="F3EEFB"/>
            </a:solidFill>
            <a:prstDash val="solid"/>
          </a:ln>
          <a:effectLst>
            <a:outerShdw sx="100000" sy="100000" kx="0" ky="0" algn="bl" rotWithShape="0" blurRad="76200" dist="25400" dir="5400000">
              <a:srgbClr val="000000">
                <a:alpha val="12000"/>
              </a:srgbClr>
            </a:outerShdw>
          </a:effectLst>
        </p:spPr>
      </p:sp>
      <p:sp>
        <p:nvSpPr>
          <p:cNvPr id="16" name="num3"/>
          <p:cNvSpPr/>
          <p:nvPr/>
        </p:nvSpPr>
        <p:spPr>
          <a:xfrm>
            <a:off x="5870448" y="2057400"/>
            <a:ext cx="502920" cy="502920"/>
          </a:xfrm>
          <a:prstGeom prst="ellipse">
            <a:avLst/>
          </a:prstGeom>
          <a:solidFill>
            <a:schemeClr val="accent2"/>
          </a:solidFill>
          <a:ln w="12700">
            <a:solidFill>
              <a:schemeClr val="accent2"/>
            </a:solidFill>
            <a:prstDash val="solid"/>
          </a:ln>
        </p:spPr>
      </p:sp>
      <p:sp>
        <p:nvSpPr>
          <p:cNvPr id="17" name="Text 15"/>
          <p:cNvSpPr txBox="1"/>
          <p:nvPr/>
        </p:nvSpPr>
        <p:spPr>
          <a:xfrm>
            <a:off x="5870448" y="2057400"/>
            <a:ext cx="502920" cy="502920"/>
          </a:xfrm>
          <a:prstGeom prst="rect">
            <a:avLst/>
          </a:prstGeom>
          <a:noFill/>
          <a:ln/>
        </p:spPr>
        <p:txBody>
          <a:bodyPr wrap="square" lIns="0" tIns="0" rIns="0" bIns="0" rtlCol="0" anchor="ctr"/>
          <a:lstStyle/>
          <a:p>
            <a:pPr algn="ctr" indent="0" marL="0">
              <a:buNone/>
            </a:pPr>
            <a:r>
              <a:rPr lang="en-US" sz="1800" b="1" dirty="0">
                <a:solidFill>
                  <a:srgbClr val="2A0D5C"/>
                </a:solidFill>
                <a:latin typeface="Times New Roman" pitchFamily="34" charset="0"/>
                <a:ea typeface="Times New Roman" pitchFamily="34" charset="-122"/>
                <a:cs typeface="Times New Roman" pitchFamily="34" charset="-120"/>
              </a:rPr>
              <a:t>3</a:t>
            </a:r>
            <a:endParaRPr lang="en-US" sz="1800" dirty="0"/>
          </a:p>
        </p:txBody>
      </p:sp>
      <p:sp>
        <p:nvSpPr>
          <p:cNvPr id="18" name="Text 16"/>
          <p:cNvSpPr txBox="1"/>
          <p:nvPr/>
        </p:nvSpPr>
        <p:spPr>
          <a:xfrm>
            <a:off x="5212080" y="2743200"/>
            <a:ext cx="1828800" cy="731520"/>
          </a:xfrm>
          <a:prstGeom prst="rect">
            <a:avLst/>
          </a:prstGeom>
          <a:noFill/>
          <a:ln/>
        </p:spPr>
        <p:txBody>
          <a:bodyPr wrap="square" lIns="0" tIns="0" rIns="0" bIns="0" rtlCol="0" anchor="ctr"/>
          <a:lstStyle/>
          <a:p>
            <a:pPr algn="ctr" indent="0" marL="0">
              <a:buNone/>
            </a:pPr>
            <a:r>
              <a:rPr lang="en-US" sz="1800" b="1" dirty="0">
                <a:solidFill>
                  <a:srgbClr val="2A0D5C"/>
                </a:solidFill>
                <a:latin typeface="Times New Roman" pitchFamily="34" charset="0"/>
                <a:ea typeface="Times New Roman" pitchFamily="34" charset="-122"/>
                <a:cs typeface="Times New Roman" pitchFamily="34" charset="-120"/>
              </a:rPr>
              <a:t>Dataset</a:t>
            </a:r>
            <a:endParaRPr lang="en-US" sz="1800" dirty="0"/>
          </a:p>
        </p:txBody>
      </p:sp>
      <p:sp>
        <p:nvSpPr>
          <p:cNvPr id="19" name="Text 17"/>
          <p:cNvSpPr txBox="1"/>
          <p:nvPr/>
        </p:nvSpPr>
        <p:spPr>
          <a:xfrm>
            <a:off x="5257800" y="3520440"/>
            <a:ext cx="1737360" cy="1005840"/>
          </a:xfrm>
          <a:prstGeom prst="rect">
            <a:avLst/>
          </a:prstGeom>
          <a:noFill/>
          <a:ln/>
        </p:spPr>
        <p:txBody>
          <a:bodyPr wrap="square" lIns="0" tIns="0" rIns="0" bIns="0" rtlCol="0" anchor="t"/>
          <a:lstStyle/>
          <a:p>
            <a:pPr algn="ctr" indent="0" marL="0">
              <a:buNone/>
            </a:pPr>
            <a:r>
              <a:rPr lang="en-US" sz="1400" dirty="0">
                <a:solidFill>
                  <a:srgbClr val="333333"/>
                </a:solidFill>
              </a:rPr>
              <a:t>3,000 random cases</a:t>
            </a:r>
            <a:endParaRPr lang="en-US" sz="1400" dirty="0"/>
          </a:p>
        </p:txBody>
      </p:sp>
      <p:sp>
        <p:nvSpPr>
          <p:cNvPr id="20" name="Shape 18"/>
          <p:cNvSpPr/>
          <p:nvPr/>
        </p:nvSpPr>
        <p:spPr>
          <a:xfrm>
            <a:off x="7150608" y="3108960"/>
            <a:ext cx="237744" cy="365760"/>
          </a:xfrm>
          <a:prstGeom prst="rightArrow">
            <a:avLst/>
          </a:prstGeom>
          <a:solidFill>
            <a:schemeClr val="accent2"/>
          </a:solidFill>
          <a:ln w="12700">
            <a:solidFill>
              <a:schemeClr val="accent2"/>
            </a:solidFill>
            <a:prstDash val="solid"/>
          </a:ln>
        </p:spPr>
      </p:sp>
      <p:sp>
        <p:nvSpPr>
          <p:cNvPr id="21" name="Shape 19"/>
          <p:cNvSpPr/>
          <p:nvPr/>
        </p:nvSpPr>
        <p:spPr>
          <a:xfrm>
            <a:off x="7406640" y="1828800"/>
            <a:ext cx="2011680" cy="2926080"/>
          </a:xfrm>
          <a:prstGeom prst="roundRect">
            <a:avLst>
              <a:gd name="adj" fmla="val 5455"/>
            </a:avLst>
          </a:prstGeom>
          <a:solidFill>
            <a:srgbClr val="F3EEFB"/>
          </a:solidFill>
          <a:ln w="12700">
            <a:solidFill>
              <a:srgbClr val="F3EEFB"/>
            </a:solidFill>
            <a:prstDash val="solid"/>
          </a:ln>
          <a:effectLst>
            <a:outerShdw sx="100000" sy="100000" kx="0" ky="0" algn="bl" rotWithShape="0" blurRad="76200" dist="25400" dir="5400000">
              <a:srgbClr val="000000">
                <a:alpha val="12000"/>
              </a:srgbClr>
            </a:outerShdw>
          </a:effectLst>
        </p:spPr>
      </p:sp>
      <p:sp>
        <p:nvSpPr>
          <p:cNvPr id="22" name="num4"/>
          <p:cNvSpPr/>
          <p:nvPr/>
        </p:nvSpPr>
        <p:spPr>
          <a:xfrm>
            <a:off x="8156448" y="2057400"/>
            <a:ext cx="502920" cy="502920"/>
          </a:xfrm>
          <a:prstGeom prst="ellipse">
            <a:avLst/>
          </a:prstGeom>
          <a:solidFill>
            <a:schemeClr val="accent2"/>
          </a:solidFill>
          <a:ln w="12700">
            <a:solidFill>
              <a:schemeClr val="accent2"/>
            </a:solidFill>
            <a:prstDash val="solid"/>
          </a:ln>
        </p:spPr>
      </p:sp>
      <p:sp>
        <p:nvSpPr>
          <p:cNvPr id="23" name="Text 21"/>
          <p:cNvSpPr txBox="1"/>
          <p:nvPr/>
        </p:nvSpPr>
        <p:spPr>
          <a:xfrm>
            <a:off x="8156448" y="2057400"/>
            <a:ext cx="502920" cy="502920"/>
          </a:xfrm>
          <a:prstGeom prst="rect">
            <a:avLst/>
          </a:prstGeom>
          <a:noFill/>
          <a:ln/>
        </p:spPr>
        <p:txBody>
          <a:bodyPr wrap="square" lIns="0" tIns="0" rIns="0" bIns="0" rtlCol="0" anchor="ctr"/>
          <a:lstStyle/>
          <a:p>
            <a:pPr algn="ctr" indent="0" marL="0">
              <a:buNone/>
            </a:pPr>
            <a:r>
              <a:rPr lang="en-US" sz="1800" b="1" dirty="0">
                <a:solidFill>
                  <a:srgbClr val="2A0D5C"/>
                </a:solidFill>
                <a:latin typeface="Times New Roman" pitchFamily="34" charset="0"/>
                <a:ea typeface="Times New Roman" pitchFamily="34" charset="-122"/>
                <a:cs typeface="Times New Roman" pitchFamily="34" charset="-120"/>
              </a:rPr>
              <a:t>4</a:t>
            </a:r>
            <a:endParaRPr lang="en-US" sz="1800" dirty="0"/>
          </a:p>
        </p:txBody>
      </p:sp>
      <p:sp>
        <p:nvSpPr>
          <p:cNvPr id="24" name="Text 22"/>
          <p:cNvSpPr txBox="1"/>
          <p:nvPr/>
        </p:nvSpPr>
        <p:spPr>
          <a:xfrm>
            <a:off x="7498080" y="2743200"/>
            <a:ext cx="1828800" cy="731520"/>
          </a:xfrm>
          <a:prstGeom prst="rect">
            <a:avLst/>
          </a:prstGeom>
          <a:noFill/>
          <a:ln/>
        </p:spPr>
        <p:txBody>
          <a:bodyPr wrap="square" lIns="0" tIns="0" rIns="0" bIns="0" rtlCol="0" anchor="ctr"/>
          <a:lstStyle/>
          <a:p>
            <a:pPr algn="ctr" indent="0" marL="0">
              <a:buNone/>
            </a:pPr>
            <a:r>
              <a:rPr lang="en-US" sz="1800" b="1" dirty="0">
                <a:solidFill>
                  <a:srgbClr val="2A0D5C"/>
                </a:solidFill>
                <a:latin typeface="Times New Roman" pitchFamily="34" charset="0"/>
                <a:ea typeface="Times New Roman" pitchFamily="34" charset="-122"/>
                <a:cs typeface="Times New Roman" pitchFamily="34" charset="-120"/>
              </a:rPr>
              <a:t>ML training</a:t>
            </a:r>
            <a:endParaRPr lang="en-US" sz="1800" dirty="0"/>
          </a:p>
        </p:txBody>
      </p:sp>
      <p:sp>
        <p:nvSpPr>
          <p:cNvPr id="25" name="Text 23"/>
          <p:cNvSpPr txBox="1"/>
          <p:nvPr/>
        </p:nvSpPr>
        <p:spPr>
          <a:xfrm>
            <a:off x="7543800" y="3520440"/>
            <a:ext cx="1737360" cy="1005840"/>
          </a:xfrm>
          <a:prstGeom prst="rect">
            <a:avLst/>
          </a:prstGeom>
          <a:noFill/>
          <a:ln/>
        </p:spPr>
        <p:txBody>
          <a:bodyPr wrap="square" lIns="0" tIns="0" rIns="0" bIns="0" rtlCol="0" anchor="t"/>
          <a:lstStyle/>
          <a:p>
            <a:pPr algn="ctr" indent="0" marL="0">
              <a:buNone/>
            </a:pPr>
            <a:r>
              <a:rPr lang="en-US" sz="1400" dirty="0">
                <a:solidFill>
                  <a:srgbClr val="333333"/>
                </a:solidFill>
              </a:rPr>
              <a:t>80% train, 20% test</a:t>
            </a:r>
            <a:endParaRPr lang="en-US" sz="1400" dirty="0"/>
          </a:p>
        </p:txBody>
      </p:sp>
      <p:sp>
        <p:nvSpPr>
          <p:cNvPr id="26" name="Shape 24"/>
          <p:cNvSpPr/>
          <p:nvPr/>
        </p:nvSpPr>
        <p:spPr>
          <a:xfrm>
            <a:off x="9436608" y="3108960"/>
            <a:ext cx="237744" cy="365760"/>
          </a:xfrm>
          <a:prstGeom prst="rightArrow">
            <a:avLst/>
          </a:prstGeom>
          <a:solidFill>
            <a:schemeClr val="accent2"/>
          </a:solidFill>
          <a:ln w="12700">
            <a:solidFill>
              <a:schemeClr val="accent2"/>
            </a:solidFill>
            <a:prstDash val="solid"/>
          </a:ln>
        </p:spPr>
      </p:sp>
      <p:sp>
        <p:nvSpPr>
          <p:cNvPr id="27" name="Shape 25"/>
          <p:cNvSpPr/>
          <p:nvPr/>
        </p:nvSpPr>
        <p:spPr>
          <a:xfrm>
            <a:off x="9692640" y="1828800"/>
            <a:ext cx="2011680" cy="2926080"/>
          </a:xfrm>
          <a:prstGeom prst="roundRect">
            <a:avLst>
              <a:gd name="adj" fmla="val 5455"/>
            </a:avLst>
          </a:prstGeom>
          <a:solidFill>
            <a:srgbClr val="4A1D8C"/>
          </a:solidFill>
          <a:ln w="12700">
            <a:solidFill>
              <a:srgbClr val="4A1D8C"/>
            </a:solidFill>
            <a:prstDash val="solid"/>
          </a:ln>
          <a:effectLst>
            <a:outerShdw sx="100000" sy="100000" kx="0" ky="0" algn="bl" rotWithShape="0" blurRad="76200" dist="25400" dir="5400000">
              <a:srgbClr val="000000">
                <a:alpha val="12000"/>
              </a:srgbClr>
            </a:outerShdw>
          </a:effectLst>
        </p:spPr>
      </p:sp>
      <p:sp>
        <p:nvSpPr>
          <p:cNvPr id="28" name="num5"/>
          <p:cNvSpPr/>
          <p:nvPr/>
        </p:nvSpPr>
        <p:spPr>
          <a:xfrm>
            <a:off x="10442448" y="2057400"/>
            <a:ext cx="502920" cy="502920"/>
          </a:xfrm>
          <a:prstGeom prst="ellipse">
            <a:avLst/>
          </a:prstGeom>
          <a:solidFill>
            <a:schemeClr val="accent2"/>
          </a:solidFill>
          <a:ln w="12700">
            <a:solidFill>
              <a:schemeClr val="accent2"/>
            </a:solidFill>
            <a:prstDash val="solid"/>
          </a:ln>
        </p:spPr>
      </p:sp>
      <p:sp>
        <p:nvSpPr>
          <p:cNvPr id="29" name="Text 27"/>
          <p:cNvSpPr txBox="1"/>
          <p:nvPr/>
        </p:nvSpPr>
        <p:spPr>
          <a:xfrm>
            <a:off x="10442448" y="2057400"/>
            <a:ext cx="502920" cy="502920"/>
          </a:xfrm>
          <a:prstGeom prst="rect">
            <a:avLst/>
          </a:prstGeom>
          <a:noFill/>
          <a:ln/>
        </p:spPr>
        <p:txBody>
          <a:bodyPr wrap="square" lIns="0" tIns="0" rIns="0" bIns="0" rtlCol="0" anchor="ctr"/>
          <a:lstStyle/>
          <a:p>
            <a:pPr algn="ctr" indent="0" marL="0">
              <a:buNone/>
            </a:pPr>
            <a:r>
              <a:rPr lang="en-US" sz="1800" b="1" dirty="0">
                <a:solidFill>
                  <a:srgbClr val="2A0D5C"/>
                </a:solidFill>
                <a:latin typeface="Times New Roman" pitchFamily="34" charset="0"/>
                <a:ea typeface="Times New Roman" pitchFamily="34" charset="-122"/>
                <a:cs typeface="Times New Roman" pitchFamily="34" charset="-120"/>
              </a:rPr>
              <a:t>5</a:t>
            </a:r>
            <a:endParaRPr lang="en-US" sz="1800" dirty="0"/>
          </a:p>
        </p:txBody>
      </p:sp>
      <p:sp>
        <p:nvSpPr>
          <p:cNvPr id="30" name="Text 28"/>
          <p:cNvSpPr txBox="1"/>
          <p:nvPr/>
        </p:nvSpPr>
        <p:spPr>
          <a:xfrm>
            <a:off x="9784080" y="2743200"/>
            <a:ext cx="1828800"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Prediction</a:t>
            </a:r>
            <a:endParaRPr lang="en-US" sz="1800" dirty="0"/>
          </a:p>
        </p:txBody>
      </p:sp>
      <p:sp>
        <p:nvSpPr>
          <p:cNvPr id="31" name="Text 29"/>
          <p:cNvSpPr txBox="1"/>
          <p:nvPr/>
        </p:nvSpPr>
        <p:spPr>
          <a:xfrm>
            <a:off x="9829800" y="3520440"/>
            <a:ext cx="1737360" cy="1005840"/>
          </a:xfrm>
          <a:prstGeom prst="rect">
            <a:avLst/>
          </a:prstGeom>
          <a:noFill/>
          <a:ln/>
        </p:spPr>
        <p:txBody>
          <a:bodyPr wrap="square" lIns="0" tIns="0" rIns="0" bIns="0" rtlCol="0" anchor="t"/>
          <a:lstStyle/>
          <a:p>
            <a:pPr algn="ctr" indent="0" marL="0">
              <a:buNone/>
            </a:pPr>
            <a:r>
              <a:rPr lang="en-US" sz="1400" dirty="0">
                <a:solidFill>
                  <a:srgbClr val="FFFFFF"/>
                </a:solidFill>
              </a:rPr>
              <a:t>CL and Cp,min in &lt; 0.01 ms</a:t>
            </a:r>
            <a:endParaRPr lang="en-US" sz="1400" dirty="0"/>
          </a:p>
        </p:txBody>
      </p:sp>
      <p:sp>
        <p:nvSpPr>
          <p:cNvPr id="32" name="Text 30"/>
          <p:cNvSpPr txBox="1"/>
          <p:nvPr/>
        </p:nvSpPr>
        <p:spPr>
          <a:xfrm>
            <a:off x="548640" y="5212080"/>
            <a:ext cx="10972800" cy="457200"/>
          </a:xfrm>
          <a:prstGeom prst="rect">
            <a:avLst/>
          </a:prstGeom>
          <a:noFill/>
          <a:ln/>
        </p:spPr>
        <p:txBody>
          <a:bodyPr wrap="square" lIns="0" tIns="0" rIns="0" bIns="0" rtlCol="0" anchor="ctr"/>
          <a:lstStyle/>
          <a:p>
            <a:pPr indent="0" marL="0">
              <a:buNone/>
            </a:pPr>
            <a:r>
              <a:rPr lang="en-US" sz="1600" i="1" dirty="0">
                <a:solidFill>
                  <a:srgbClr val="4A1D8C"/>
                </a:solidFill>
              </a:rPr>
              <a:t>Tools: Python, NumPy, scikit-learn, Matplotlib</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Times New Roman" pitchFamily="34" charset="0"/>
                <a:ea typeface="Times New Roman" pitchFamily="34" charset="-122"/>
                <a:cs typeface="Times New Roman" pitchFamily="34" charset="-120"/>
              </a:rPr>
              <a:t>Panel method validation</a:t>
            </a:r>
            <a:endParaRPr lang="en-US" sz="3400" dirty="0"/>
          </a:p>
        </p:txBody>
      </p:sp>
      <p:pic>
        <p:nvPicPr>
          <p:cNvPr id="3" name="Image 0" descr="fig_validation.png">    </p:cNvPr>
          <p:cNvPicPr>
            <a:picLocks noChangeAspect="1"/>
          </p:cNvPicPr>
          <p:nvPr/>
        </p:nvPicPr>
        <p:blipFill>
          <a:blip r:embed="rId1"/>
          <a:stretch>
            <a:fillRect/>
          </a:stretch>
        </p:blipFill>
        <p:spPr>
          <a:xfrm>
            <a:off x="548640" y="1280160"/>
            <a:ext cx="6309360" cy="4416552"/>
          </a:xfrm>
          <a:prstGeom prst="rect">
            <a:avLst/>
          </a:prstGeom>
        </p:spPr>
      </p:pic>
      <p:sp>
        <p:nvSpPr>
          <p:cNvPr id="4" name="Shape 1"/>
          <p:cNvSpPr/>
          <p:nvPr/>
        </p:nvSpPr>
        <p:spPr>
          <a:xfrm>
            <a:off x="7223760" y="1463040"/>
            <a:ext cx="4389120" cy="1874520"/>
          </a:xfrm>
          <a:prstGeom prst="roundRect">
            <a:avLst>
              <a:gd name="adj" fmla="val 5854"/>
            </a:avLst>
          </a:prstGeom>
          <a:solidFill>
            <a:srgbClr val="F3EEFB"/>
          </a:solidFill>
          <a:ln w="12700">
            <a:solidFill>
              <a:srgbClr val="F3EEFB"/>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7452360" y="1600200"/>
            <a:ext cx="4023360" cy="777240"/>
          </a:xfrm>
          <a:prstGeom prst="rect">
            <a:avLst/>
          </a:prstGeom>
          <a:noFill/>
          <a:ln/>
        </p:spPr>
        <p:txBody>
          <a:bodyPr wrap="square" lIns="0" tIns="0" rIns="0" bIns="0" rtlCol="0" anchor="ctr"/>
          <a:lstStyle/>
          <a:p>
            <a:pPr indent="0" marL="0">
              <a:buNone/>
            </a:pPr>
            <a:r>
              <a:rPr lang="en-US" sz="4000" b="1" dirty="0">
                <a:solidFill>
                  <a:schemeClr val="accent1"/>
                </a:solidFill>
                <a:latin typeface="Times New Roman" pitchFamily="34" charset="0"/>
                <a:ea typeface="Times New Roman" pitchFamily="34" charset="-122"/>
                <a:cs typeface="Times New Roman" pitchFamily="34" charset="-120"/>
              </a:rPr>
              <a:t>0.120 /°</a:t>
            </a:r>
            <a:endParaRPr lang="en-US" sz="4000" dirty="0"/>
          </a:p>
        </p:txBody>
      </p:sp>
      <p:sp>
        <p:nvSpPr>
          <p:cNvPr id="6" name="Text 3"/>
          <p:cNvSpPr txBox="1"/>
          <p:nvPr/>
        </p:nvSpPr>
        <p:spPr>
          <a:xfrm>
            <a:off x="7452360" y="2377440"/>
            <a:ext cx="4023360" cy="868680"/>
          </a:xfrm>
          <a:prstGeom prst="rect">
            <a:avLst/>
          </a:prstGeom>
          <a:noFill/>
          <a:ln/>
        </p:spPr>
        <p:txBody>
          <a:bodyPr wrap="square" lIns="0" tIns="0" rIns="0" bIns="0" rtlCol="0" anchor="t"/>
          <a:lstStyle/>
          <a:p>
            <a:pPr indent="0" marL="0">
              <a:buNone/>
            </a:pPr>
            <a:r>
              <a:rPr lang="en-US" sz="1500" b="1" dirty="0">
                <a:solidFill>
                  <a:srgbClr val="333333"/>
                </a:solidFill>
              </a:rPr>
              <a:t>Lift-curve slope, NACA 0012</a:t>
            </a:r>
            <a:endParaRPr lang="en-US" sz="1500" dirty="0"/>
          </a:p>
          <a:p>
            <a:pPr indent="0" marL="0">
              <a:buNone/>
            </a:pPr>
            <a:r>
              <a:rPr lang="en-US" sz="1500" dirty="0">
                <a:solidFill>
                  <a:srgbClr val="333333"/>
                </a:solidFill>
              </a:rPr>
              <a:t>Theory: 0.110 /° (thin plate); thickness adds ≈ 9%</a:t>
            </a:r>
            <a:endParaRPr lang="en-US" sz="1500" dirty="0"/>
          </a:p>
        </p:txBody>
      </p:sp>
      <p:sp>
        <p:nvSpPr>
          <p:cNvPr id="7" name="Shape 4"/>
          <p:cNvSpPr/>
          <p:nvPr/>
        </p:nvSpPr>
        <p:spPr>
          <a:xfrm>
            <a:off x="7223760" y="3611880"/>
            <a:ext cx="4389120" cy="1874520"/>
          </a:xfrm>
          <a:prstGeom prst="roundRect">
            <a:avLst>
              <a:gd name="adj" fmla="val 5854"/>
            </a:avLst>
          </a:prstGeom>
          <a:solidFill>
            <a:srgbClr val="F3EEFB"/>
          </a:solidFill>
          <a:ln w="12700">
            <a:solidFill>
              <a:srgbClr val="F3EEFB"/>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7452360" y="3749040"/>
            <a:ext cx="4023360" cy="777240"/>
          </a:xfrm>
          <a:prstGeom prst="rect">
            <a:avLst/>
          </a:prstGeom>
          <a:noFill/>
          <a:ln/>
        </p:spPr>
        <p:txBody>
          <a:bodyPr wrap="square" lIns="0" tIns="0" rIns="0" bIns="0" rtlCol="0" anchor="ctr"/>
          <a:lstStyle/>
          <a:p>
            <a:pPr indent="0" marL="0">
              <a:buNone/>
            </a:pPr>
            <a:r>
              <a:rPr lang="en-US" sz="4000" b="1" dirty="0">
                <a:solidFill>
                  <a:schemeClr val="accent1"/>
                </a:solidFill>
                <a:latin typeface="Times New Roman" pitchFamily="34" charset="0"/>
                <a:ea typeface="Times New Roman" pitchFamily="34" charset="-122"/>
                <a:cs typeface="Times New Roman" pitchFamily="34" charset="-120"/>
              </a:rPr>
              <a:t>-2.13°</a:t>
            </a:r>
            <a:endParaRPr lang="en-US" sz="4000" dirty="0"/>
          </a:p>
        </p:txBody>
      </p:sp>
      <p:sp>
        <p:nvSpPr>
          <p:cNvPr id="9" name="Text 6"/>
          <p:cNvSpPr txBox="1"/>
          <p:nvPr/>
        </p:nvSpPr>
        <p:spPr>
          <a:xfrm>
            <a:off x="7452360" y="4526280"/>
            <a:ext cx="4023360" cy="868680"/>
          </a:xfrm>
          <a:prstGeom prst="rect">
            <a:avLst/>
          </a:prstGeom>
          <a:noFill/>
          <a:ln/>
        </p:spPr>
        <p:txBody>
          <a:bodyPr wrap="square" lIns="0" tIns="0" rIns="0" bIns="0" rtlCol="0" anchor="t"/>
          <a:lstStyle/>
          <a:p>
            <a:pPr indent="0" marL="0">
              <a:buNone/>
            </a:pPr>
            <a:r>
              <a:rPr lang="en-US" sz="1500" b="1" dirty="0">
                <a:solidFill>
                  <a:srgbClr val="333333"/>
                </a:solidFill>
              </a:rPr>
              <a:t>Zero-lift angle, NACA 2412</a:t>
            </a:r>
            <a:endParaRPr lang="en-US" sz="1500" dirty="0"/>
          </a:p>
          <a:p>
            <a:pPr indent="0" marL="0">
              <a:buNone/>
            </a:pPr>
            <a:r>
              <a:rPr lang="en-US" sz="1500" dirty="0">
                <a:solidFill>
                  <a:srgbClr val="333333"/>
                </a:solidFill>
              </a:rPr>
              <a:t>Thin airfoil theory: −2.08°</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Times New Roman" pitchFamily="34" charset="0"/>
                <a:ea typeface="Times New Roman" pitchFamily="34" charset="-122"/>
                <a:cs typeface="Times New Roman" pitchFamily="34" charset="-120"/>
              </a:rPr>
              <a:t>Pressure distribution and suction peak</a:t>
            </a:r>
            <a:endParaRPr lang="en-US" sz="3400" dirty="0"/>
          </a:p>
        </p:txBody>
      </p:sp>
      <p:pic>
        <p:nvPicPr>
          <p:cNvPr id="3" name="Image 0" descr="fig_cp.png">    </p:cNvPr>
          <p:cNvPicPr>
            <a:picLocks noChangeAspect="1"/>
          </p:cNvPicPr>
          <p:nvPr/>
        </p:nvPicPr>
        <p:blipFill>
          <a:blip r:embed="rId1"/>
          <a:stretch>
            <a:fillRect/>
          </a:stretch>
        </p:blipFill>
        <p:spPr>
          <a:xfrm>
            <a:off x="548640" y="1280160"/>
            <a:ext cx="6309360" cy="4416552"/>
          </a:xfrm>
          <a:prstGeom prst="rect">
            <a:avLst/>
          </a:prstGeom>
        </p:spPr>
      </p:pic>
      <p:sp>
        <p:nvSpPr>
          <p:cNvPr id="4" name="Text 1"/>
          <p:cNvSpPr txBox="1"/>
          <p:nvPr/>
        </p:nvSpPr>
        <p:spPr>
          <a:xfrm>
            <a:off x="7223760" y="1463040"/>
            <a:ext cx="4389120" cy="4297680"/>
          </a:xfrm>
          <a:prstGeom prst="rect">
            <a:avLst/>
          </a:prstGeom>
          <a:noFill/>
          <a:ln/>
        </p:spPr>
        <p:txBody>
          <a:bodyPr wrap="square" rtlCol="0" anchor="t"/>
          <a:lstStyle/>
          <a:p>
            <a:pPr marL="342900" indent="-342900">
              <a:spcAft>
                <a:spcPts val="1000"/>
              </a:spcAft>
              <a:buSzPct val="100000"/>
              <a:buChar char="•"/>
            </a:pPr>
            <a:r>
              <a:rPr lang="en-US" sz="1700" dirty="0">
                <a:solidFill>
                  <a:srgbClr val="1F1F1F"/>
                </a:solidFill>
              </a:rPr>
              <a:t>Lower pressure on the upper surface lifts the wing</a:t>
            </a:r>
            <a:endParaRPr lang="en-US" sz="1700" dirty="0"/>
          </a:p>
          <a:p>
            <a:pPr marL="342900" indent="-342900">
              <a:spcAft>
                <a:spcPts val="1000"/>
              </a:spcAft>
              <a:buSzPct val="100000"/>
              <a:buChar char="•"/>
            </a:pPr>
            <a:r>
              <a:rPr lang="en-US" sz="1700" dirty="0">
                <a:solidFill>
                  <a:srgbClr val="1F1F1F"/>
                </a:solidFill>
              </a:rPr>
              <a:t>Cp,min is the strongest suction, near the leading edge</a:t>
            </a:r>
            <a:endParaRPr lang="en-US" sz="1700" dirty="0"/>
          </a:p>
          <a:p>
            <a:pPr marL="342900" indent="-342900">
              <a:spcAft>
                <a:spcPts val="1000"/>
              </a:spcAft>
              <a:buSzPct val="100000"/>
              <a:buChar char="•"/>
            </a:pPr>
            <a:r>
              <a:rPr lang="en-US" sz="1700" dirty="0">
                <a:solidFill>
                  <a:srgbClr val="1F1F1F"/>
                </a:solidFill>
              </a:rPr>
              <a:t>A sharp suction peak warns of flow separation and stall</a:t>
            </a:r>
            <a:endParaRPr lang="en-US" sz="1700" dirty="0"/>
          </a:p>
          <a:p>
            <a:pPr marL="342900" indent="-342900">
              <a:spcAft>
                <a:spcPts val="1000"/>
              </a:spcAft>
              <a:buSzPct val="100000"/>
              <a:buChar char="•"/>
            </a:pPr>
            <a:r>
              <a:rPr lang="en-US" sz="1700" dirty="0">
                <a:solidFill>
                  <a:srgbClr val="1F1F1F"/>
                </a:solidFill>
              </a:rPr>
              <a:t>Cp,min changes strongly (nonlinearly) with angle and thickness – a harder target for ML</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Times New Roman" pitchFamily="34" charset="0"/>
                <a:ea typeface="Times New Roman" pitchFamily="34" charset="-122"/>
                <a:cs typeface="Times New Roman" pitchFamily="34" charset="-120"/>
              </a:rPr>
              <a:t>Machine learning models compared</a:t>
            </a:r>
            <a:endParaRPr lang="en-US" sz="3400" dirty="0"/>
          </a:p>
        </p:txBody>
      </p:sp>
      <p:sp>
        <p:nvSpPr>
          <p:cNvPr id="3" name="Shape 1"/>
          <p:cNvSpPr/>
          <p:nvPr/>
        </p:nvSpPr>
        <p:spPr>
          <a:xfrm>
            <a:off x="548640" y="1554480"/>
            <a:ext cx="3520440" cy="2926080"/>
          </a:xfrm>
          <a:prstGeom prst="roundRect">
            <a:avLst>
              <a:gd name="adj" fmla="val 3750"/>
            </a:avLst>
          </a:prstGeom>
          <a:solidFill>
            <a:srgbClr val="F3EEFB"/>
          </a:solidFill>
          <a:ln w="12700">
            <a:solidFill>
              <a:srgbClr val="F3EEFB"/>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822960" y="1783080"/>
            <a:ext cx="3017520" cy="731520"/>
          </a:xfrm>
          <a:prstGeom prst="rect">
            <a:avLst/>
          </a:prstGeom>
          <a:noFill/>
          <a:ln/>
        </p:spPr>
        <p:txBody>
          <a:bodyPr wrap="square" lIns="0" tIns="0" rIns="0" bIns="0" rtlCol="0" anchor="ctr"/>
          <a:lstStyle/>
          <a:p>
            <a:pPr indent="0" marL="0">
              <a:buNone/>
            </a:pPr>
            <a:r>
              <a:rPr lang="en-US" sz="2100" b="1" dirty="0">
                <a:solidFill>
                  <a:srgbClr val="2A0D5C"/>
                </a:solidFill>
                <a:latin typeface="Times New Roman" pitchFamily="34" charset="0"/>
                <a:ea typeface="Times New Roman" pitchFamily="34" charset="-122"/>
                <a:cs typeface="Times New Roman" pitchFamily="34" charset="-120"/>
              </a:rPr>
              <a:t>Linear Regression</a:t>
            </a:r>
            <a:endParaRPr lang="en-US" sz="2100" dirty="0"/>
          </a:p>
        </p:txBody>
      </p:sp>
      <p:sp>
        <p:nvSpPr>
          <p:cNvPr id="5" name="Text 3"/>
          <p:cNvSpPr txBox="1"/>
          <p:nvPr/>
        </p:nvSpPr>
        <p:spPr>
          <a:xfrm>
            <a:off x="822960" y="2606040"/>
            <a:ext cx="3017520" cy="1737360"/>
          </a:xfrm>
          <a:prstGeom prst="rect">
            <a:avLst/>
          </a:prstGeom>
          <a:noFill/>
          <a:ln/>
        </p:spPr>
        <p:txBody>
          <a:bodyPr wrap="square" lIns="0" tIns="0" rIns="0" bIns="0" rtlCol="0" anchor="t"/>
          <a:lstStyle/>
          <a:p>
            <a:pPr indent="0" marL="0">
              <a:buNone/>
            </a:pPr>
            <a:r>
              <a:rPr lang="en-US" sz="1700" dirty="0">
                <a:solidFill>
                  <a:srgbClr val="1F1F1F"/>
                </a:solidFill>
              </a:rPr>
              <a:t>Fits a straight-line relation between inputs and output. Fast and simple.</a:t>
            </a:r>
            <a:endParaRPr lang="en-US" sz="1700" dirty="0"/>
          </a:p>
        </p:txBody>
      </p:sp>
      <p:sp>
        <p:nvSpPr>
          <p:cNvPr id="6" name="Shape 4"/>
          <p:cNvSpPr/>
          <p:nvPr/>
        </p:nvSpPr>
        <p:spPr>
          <a:xfrm>
            <a:off x="4343400" y="1554480"/>
            <a:ext cx="3520440" cy="2926080"/>
          </a:xfrm>
          <a:prstGeom prst="roundRect">
            <a:avLst>
              <a:gd name="adj" fmla="val 3750"/>
            </a:avLst>
          </a:prstGeom>
          <a:solidFill>
            <a:srgbClr val="F3EEFB"/>
          </a:solidFill>
          <a:ln w="12700">
            <a:solidFill>
              <a:srgbClr val="F3EEFB"/>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4617720" y="1783080"/>
            <a:ext cx="3017520" cy="731520"/>
          </a:xfrm>
          <a:prstGeom prst="rect">
            <a:avLst/>
          </a:prstGeom>
          <a:noFill/>
          <a:ln/>
        </p:spPr>
        <p:txBody>
          <a:bodyPr wrap="square" lIns="0" tIns="0" rIns="0" bIns="0" rtlCol="0" anchor="ctr"/>
          <a:lstStyle/>
          <a:p>
            <a:pPr indent="0" marL="0">
              <a:buNone/>
            </a:pPr>
            <a:r>
              <a:rPr lang="en-US" sz="2100" b="1" dirty="0">
                <a:solidFill>
                  <a:srgbClr val="2A0D5C"/>
                </a:solidFill>
                <a:latin typeface="Times New Roman" pitchFamily="34" charset="0"/>
                <a:ea typeface="Times New Roman" pitchFamily="34" charset="-122"/>
                <a:cs typeface="Times New Roman" pitchFamily="34" charset="-120"/>
              </a:rPr>
              <a:t>Random Forest</a:t>
            </a:r>
            <a:endParaRPr lang="en-US" sz="2100" dirty="0"/>
          </a:p>
        </p:txBody>
      </p:sp>
      <p:sp>
        <p:nvSpPr>
          <p:cNvPr id="8" name="Text 6"/>
          <p:cNvSpPr txBox="1"/>
          <p:nvPr/>
        </p:nvSpPr>
        <p:spPr>
          <a:xfrm>
            <a:off x="4617720" y="2606040"/>
            <a:ext cx="3017520" cy="1737360"/>
          </a:xfrm>
          <a:prstGeom prst="rect">
            <a:avLst/>
          </a:prstGeom>
          <a:noFill/>
          <a:ln/>
        </p:spPr>
        <p:txBody>
          <a:bodyPr wrap="square" lIns="0" tIns="0" rIns="0" bIns="0" rtlCol="0" anchor="t"/>
          <a:lstStyle/>
          <a:p>
            <a:pPr indent="0" marL="0">
              <a:buNone/>
            </a:pPr>
            <a:r>
              <a:rPr lang="en-US" sz="1700" dirty="0">
                <a:solidFill>
                  <a:srgbClr val="1F1F1F"/>
                </a:solidFill>
              </a:rPr>
              <a:t>Averages 300 decision trees. Handles nonlinear data.</a:t>
            </a:r>
            <a:endParaRPr lang="en-US" sz="1700" dirty="0"/>
          </a:p>
        </p:txBody>
      </p:sp>
      <p:sp>
        <p:nvSpPr>
          <p:cNvPr id="9" name="Shape 7"/>
          <p:cNvSpPr/>
          <p:nvPr/>
        </p:nvSpPr>
        <p:spPr>
          <a:xfrm>
            <a:off x="8138160" y="1554480"/>
            <a:ext cx="3520440" cy="2926080"/>
          </a:xfrm>
          <a:prstGeom prst="roundRect">
            <a:avLst>
              <a:gd name="adj" fmla="val 3750"/>
            </a:avLst>
          </a:prstGeom>
          <a:solidFill>
            <a:srgbClr val="4A1D8C"/>
          </a:solidFill>
          <a:ln w="12700">
            <a:solidFill>
              <a:srgbClr val="4A1D8C"/>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8412480" y="1783080"/>
            <a:ext cx="3017520" cy="731520"/>
          </a:xfrm>
          <a:prstGeom prst="rect">
            <a:avLst/>
          </a:prstGeom>
          <a:noFill/>
          <a:ln/>
        </p:spPr>
        <p:txBody>
          <a:bodyPr wrap="square" lIns="0" tIns="0" rIns="0" bIns="0" rtlCol="0" anchor="ctr"/>
          <a:lstStyle/>
          <a:p>
            <a:pPr indent="0" marL="0">
              <a:buNone/>
            </a:pPr>
            <a:r>
              <a:rPr lang="en-US" sz="2100" b="1" dirty="0">
                <a:solidFill>
                  <a:srgbClr val="FFD666"/>
                </a:solidFill>
                <a:latin typeface="Times New Roman" pitchFamily="34" charset="0"/>
                <a:ea typeface="Times New Roman" pitchFamily="34" charset="-122"/>
                <a:cs typeface="Times New Roman" pitchFamily="34" charset="-120"/>
              </a:rPr>
              <a:t>Artificial Neural Network</a:t>
            </a:r>
            <a:endParaRPr lang="en-US" sz="2100" dirty="0"/>
          </a:p>
        </p:txBody>
      </p:sp>
      <p:sp>
        <p:nvSpPr>
          <p:cNvPr id="11" name="Text 9"/>
          <p:cNvSpPr txBox="1"/>
          <p:nvPr/>
        </p:nvSpPr>
        <p:spPr>
          <a:xfrm>
            <a:off x="8412480" y="2606040"/>
            <a:ext cx="3017520" cy="1737360"/>
          </a:xfrm>
          <a:prstGeom prst="rect">
            <a:avLst/>
          </a:prstGeom>
          <a:noFill/>
          <a:ln/>
        </p:spPr>
        <p:txBody>
          <a:bodyPr wrap="square" lIns="0" tIns="0" rIns="0" bIns="0" rtlCol="0" anchor="t"/>
          <a:lstStyle/>
          <a:p>
            <a:pPr indent="0" marL="0">
              <a:buNone/>
            </a:pPr>
            <a:r>
              <a:rPr lang="en-US" sz="1700" dirty="0">
                <a:solidFill>
                  <a:srgbClr val="FFFFFF"/>
                </a:solidFill>
              </a:rPr>
              <a:t>2 hidden layers × 64 neurons. Learns complex nonlinear patterns.</a:t>
            </a:r>
            <a:endParaRPr lang="en-US" sz="1700" dirty="0"/>
          </a:p>
        </p:txBody>
      </p:sp>
      <p:sp>
        <p:nvSpPr>
          <p:cNvPr id="12" name="Text 10"/>
          <p:cNvSpPr txBox="1"/>
          <p:nvPr/>
        </p:nvSpPr>
        <p:spPr>
          <a:xfrm>
            <a:off x="548640" y="4892040"/>
            <a:ext cx="11064240" cy="457200"/>
          </a:xfrm>
          <a:prstGeom prst="rect">
            <a:avLst/>
          </a:prstGeom>
          <a:noFill/>
          <a:ln/>
        </p:spPr>
        <p:txBody>
          <a:bodyPr wrap="square" lIns="0" tIns="0" rIns="0" bIns="0" rtlCol="0" anchor="ctr"/>
          <a:lstStyle/>
          <a:p>
            <a:pPr indent="0" marL="0">
              <a:buNone/>
            </a:pPr>
            <a:r>
              <a:rPr lang="en-US" sz="1600" i="1" dirty="0">
                <a:solidFill>
                  <a:srgbClr val="4A1D8C"/>
                </a:solidFill>
              </a:rPr>
              <a:t>Dataset: 3,000 cases  ·  Training: 2,400  ·  Testing: 600  ·  Metrics: R² and mean absolute error (MAE)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Times New Roman" pitchFamily="34" charset="0"/>
                <a:ea typeface="Times New Roman" pitchFamily="34" charset="-122"/>
                <a:cs typeface="Times New Roman" pitchFamily="34" charset="-120"/>
              </a:rPr>
              <a:t>Results: prediction accuracy on test data</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017520"/>
                <a:gridCol w="2011680"/>
                <a:gridCol w="2011680"/>
                <a:gridCol w="2011680"/>
                <a:gridCol w="2011680"/>
              </a:tblGrid>
              <a:tr h="38404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2A0D5C"/>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R² (CL)</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2A0D5C"/>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MAE (CL)</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2A0D5C"/>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R² (Cp,min)</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2A0D5C"/>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MAE (Cp,min)</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2A0D5C"/>
                    </a:solidFill>
                  </a:tcPr>
                </a:tc>
              </a:tr>
              <a:tr h="384048">
                <a:tc>
                  <a:txBody>
                    <a:bodyPr/>
                    <a:lstStyle/>
                    <a:p>
                      <a:pPr algn="l" indent="0" marL="0">
                        <a:buNone/>
                      </a:pPr>
                      <a:r>
                        <a:rPr lang="en-US" sz="1500" dirty="0">
                          <a:solidFill>
                            <a:srgbClr val="1F1F1F"/>
                          </a:solidFill>
                          <a:latin typeface="Calibri" pitchFamily="34" charset="0"/>
                          <a:ea typeface="Calibri" pitchFamily="34" charset="-122"/>
                          <a:cs typeface="Calibri" pitchFamily="34" charset="-120"/>
                        </a:rPr>
                        <a:t>Linear Regression</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1F1F"/>
                          </a:solidFill>
                          <a:latin typeface="Calibri" pitchFamily="34" charset="0"/>
                          <a:ea typeface="Calibri" pitchFamily="34" charset="-122"/>
                          <a:cs typeface="Calibri" pitchFamily="34" charset="-120"/>
                        </a:rPr>
                        <a:t>0.998</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1F1F"/>
                          </a:solidFill>
                          <a:latin typeface="Calibri" pitchFamily="34" charset="0"/>
                          <a:ea typeface="Calibri" pitchFamily="34" charset="-122"/>
                          <a:cs typeface="Calibri" pitchFamily="34" charset="-120"/>
                        </a:rPr>
                        <a:t>0.021</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B3261E"/>
                          </a:solidFill>
                          <a:latin typeface="Calibri" pitchFamily="34" charset="0"/>
                          <a:ea typeface="Calibri" pitchFamily="34" charset="-122"/>
                          <a:cs typeface="Calibri" pitchFamily="34" charset="-120"/>
                        </a:rPr>
                        <a:t>0.657</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1F1F"/>
                          </a:solidFill>
                          <a:latin typeface="Calibri" pitchFamily="34" charset="0"/>
                          <a:ea typeface="Calibri" pitchFamily="34" charset="-122"/>
                          <a:cs typeface="Calibri" pitchFamily="34" charset="-120"/>
                        </a:rPr>
                        <a:t>0.938</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1F1F1F"/>
                          </a:solidFill>
                          <a:latin typeface="Calibri" pitchFamily="34" charset="0"/>
                          <a:ea typeface="Calibri" pitchFamily="34" charset="-122"/>
                          <a:cs typeface="Calibri" pitchFamily="34" charset="-120"/>
                        </a:rPr>
                        <a:t>Random Forest</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1F1F"/>
                          </a:solidFill>
                          <a:latin typeface="Calibri" pitchFamily="34" charset="0"/>
                          <a:ea typeface="Calibri" pitchFamily="34" charset="-122"/>
                          <a:cs typeface="Calibri" pitchFamily="34" charset="-120"/>
                        </a:rPr>
                        <a:t>0.997</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1F1F"/>
                          </a:solidFill>
                          <a:latin typeface="Calibri" pitchFamily="34" charset="0"/>
                          <a:ea typeface="Calibri" pitchFamily="34" charset="-122"/>
                          <a:cs typeface="Calibri" pitchFamily="34" charset="-120"/>
                        </a:rPr>
                        <a:t>0.025</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1F1F"/>
                          </a:solidFill>
                          <a:latin typeface="Calibri" pitchFamily="34" charset="0"/>
                          <a:ea typeface="Calibri" pitchFamily="34" charset="-122"/>
                          <a:cs typeface="Calibri" pitchFamily="34" charset="-120"/>
                        </a:rPr>
                        <a:t>0.985</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1F1F"/>
                          </a:solidFill>
                          <a:latin typeface="Calibri" pitchFamily="34" charset="0"/>
                          <a:ea typeface="Calibri" pitchFamily="34" charset="-122"/>
                          <a:cs typeface="Calibri" pitchFamily="34" charset="-120"/>
                        </a:rPr>
                        <a:t>0.132</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FFFFFF"/>
                    </a:solidFill>
                  </a:tcPr>
                </a:tc>
              </a:tr>
              <a:tr h="384048">
                <a:tc>
                  <a:txBody>
                    <a:bodyPr/>
                    <a:lstStyle/>
                    <a:p>
                      <a:pPr algn="l" indent="0" marL="0">
                        <a:buNone/>
                      </a:pPr>
                      <a:r>
                        <a:rPr lang="en-US" sz="1500" b="1" dirty="0">
                          <a:solidFill>
                            <a:srgbClr val="4A1D8C"/>
                          </a:solidFill>
                          <a:latin typeface="Calibri" pitchFamily="34" charset="0"/>
                          <a:ea typeface="Calibri" pitchFamily="34" charset="-122"/>
                          <a:cs typeface="Calibri" pitchFamily="34" charset="-120"/>
                        </a:rPr>
                        <a:t>ANN (MLP)</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F3EEFB"/>
                    </a:solidFill>
                  </a:tcPr>
                </a:tc>
                <a:tc>
                  <a:txBody>
                    <a:bodyPr/>
                    <a:lstStyle/>
                    <a:p>
                      <a:pPr algn="ctr" indent="0" marL="0">
                        <a:buNone/>
                      </a:pPr>
                      <a:r>
                        <a:rPr lang="en-US" sz="1500" b="1" dirty="0">
                          <a:solidFill>
                            <a:srgbClr val="4A1D8C"/>
                          </a:solidFill>
                          <a:latin typeface="Calibri" pitchFamily="34" charset="0"/>
                          <a:ea typeface="Calibri" pitchFamily="34" charset="-122"/>
                          <a:cs typeface="Calibri" pitchFamily="34" charset="-120"/>
                        </a:rPr>
                        <a:t>0.999</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F3EEFB"/>
                    </a:solidFill>
                  </a:tcPr>
                </a:tc>
                <a:tc>
                  <a:txBody>
                    <a:bodyPr/>
                    <a:lstStyle/>
                    <a:p>
                      <a:pPr algn="ctr" indent="0" marL="0">
                        <a:buNone/>
                      </a:pPr>
                      <a:r>
                        <a:rPr lang="en-US" sz="1500" b="1" dirty="0">
                          <a:solidFill>
                            <a:srgbClr val="4A1D8C"/>
                          </a:solidFill>
                          <a:latin typeface="Calibri" pitchFamily="34" charset="0"/>
                          <a:ea typeface="Calibri" pitchFamily="34" charset="-122"/>
                          <a:cs typeface="Calibri" pitchFamily="34" charset="-120"/>
                        </a:rPr>
                        <a:t>0.016</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F3EEFB"/>
                    </a:solidFill>
                  </a:tcPr>
                </a:tc>
                <a:tc>
                  <a:txBody>
                    <a:bodyPr/>
                    <a:lstStyle/>
                    <a:p>
                      <a:pPr algn="ctr" indent="0" marL="0">
                        <a:buNone/>
                      </a:pPr>
                      <a:r>
                        <a:rPr lang="en-US" sz="1500" b="1" dirty="0">
                          <a:solidFill>
                            <a:srgbClr val="4A1D8C"/>
                          </a:solidFill>
                          <a:latin typeface="Calibri" pitchFamily="34" charset="0"/>
                          <a:ea typeface="Calibri" pitchFamily="34" charset="-122"/>
                          <a:cs typeface="Calibri" pitchFamily="34" charset="-120"/>
                        </a:rPr>
                        <a:t>0.999</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F3EEFB"/>
                    </a:solidFill>
                  </a:tcPr>
                </a:tc>
                <a:tc>
                  <a:txBody>
                    <a:bodyPr/>
                    <a:lstStyle/>
                    <a:p>
                      <a:pPr algn="ctr" indent="0" marL="0">
                        <a:buNone/>
                      </a:pPr>
                      <a:r>
                        <a:rPr lang="en-US" sz="1500" b="1" dirty="0">
                          <a:solidFill>
                            <a:srgbClr val="4A1D8C"/>
                          </a:solidFill>
                          <a:latin typeface="Calibri" pitchFamily="34" charset="0"/>
                          <a:ea typeface="Calibri" pitchFamily="34" charset="-122"/>
                          <a:cs typeface="Calibri" pitchFamily="34" charset="-120"/>
                        </a:rPr>
                        <a:t>0.042</a:t>
                      </a:r>
                      <a:endParaRPr lang="en-US" sz="1500" dirty="0">
                        <a:latin typeface="Calibri" charset="0"/>
                        <a:ea typeface="Calibri" charset="0"/>
                        <a:cs typeface="Calibri" charset="0"/>
                      </a:endParaRPr>
                    </a:p>
                  </a:txBody>
                  <a:tcPr marL="91440" marR="91440" marT="45720" marB="45720">
                    <a:lnL w="9525" cap="flat" cmpd="sng" algn="ctr">
                      <a:solidFill>
                        <a:srgbClr val="D0C4EA"/>
                      </a:solidFill>
                      <a:prstDash val="solid"/>
                      <a:round/>
                      <a:headEnd type="none" w="med" len="med"/>
                      <a:tailEnd type="none" w="med" len="med"/>
                    </a:lnL>
                    <a:lnR w="9525" cap="flat" cmpd="sng" algn="ctr">
                      <a:solidFill>
                        <a:srgbClr val="D0C4EA"/>
                      </a:solidFill>
                      <a:prstDash val="solid"/>
                      <a:round/>
                      <a:headEnd type="none" w="med" len="med"/>
                      <a:tailEnd type="none" w="med" len="med"/>
                    </a:lnR>
                    <a:lnT w="9525" cap="flat" cmpd="sng" algn="ctr">
                      <a:solidFill>
                        <a:srgbClr val="D0C4EA"/>
                      </a:solidFill>
                      <a:prstDash val="solid"/>
                      <a:round/>
                      <a:headEnd type="none" w="med" len="med"/>
                      <a:tailEnd type="none" w="med" len="med"/>
                    </a:lnT>
                    <a:lnB w="9525" cap="flat" cmpd="sng" algn="ctr">
                      <a:solidFill>
                        <a:srgbClr val="D0C4EA"/>
                      </a:solidFill>
                      <a:prstDash val="solid"/>
                      <a:round/>
                      <a:headEnd type="none" w="med" len="med"/>
                      <a:tailEnd type="none" w="med" len="med"/>
                    </a:lnB>
                    <a:solidFill>
                      <a:srgbClr val="F3EEFB"/>
                    </a:solidFill>
                  </a:tcPr>
                </a:tc>
              </a:tr>
            </a:tbl>
          </a:graphicData>
        </a:graphic>
      </p:graphicFrame>
      <p:pic>
        <p:nvPicPr>
          <p:cNvPr id="4" name="Image 0" descr="fig_parity.png">    </p:cNvPr>
          <p:cNvPicPr>
            <a:picLocks noChangeAspect="1"/>
          </p:cNvPicPr>
          <p:nvPr/>
        </p:nvPicPr>
        <p:blipFill>
          <a:blip r:embed="rId1"/>
          <a:stretch>
            <a:fillRect/>
          </a:stretch>
        </p:blipFill>
        <p:spPr>
          <a:xfrm>
            <a:off x="1737360" y="3108960"/>
            <a:ext cx="6949440" cy="3200400"/>
          </a:xfrm>
          <a:prstGeom prst="rect">
            <a:avLst/>
          </a:prstGeom>
        </p:spPr>
      </p:pic>
      <p:sp>
        <p:nvSpPr>
          <p:cNvPr id="5" name="Text 1"/>
          <p:cNvSpPr txBox="1"/>
          <p:nvPr/>
        </p:nvSpPr>
        <p:spPr>
          <a:xfrm>
            <a:off x="8869680" y="3474720"/>
            <a:ext cx="2743200" cy="2377440"/>
          </a:xfrm>
          <a:prstGeom prst="rect">
            <a:avLst/>
          </a:prstGeom>
          <a:noFill/>
          <a:ln/>
        </p:spPr>
        <p:txBody>
          <a:bodyPr wrap="square" lIns="0" tIns="0" rIns="0" bIns="0" rtlCol="0" anchor="ctr"/>
          <a:lstStyle/>
          <a:p>
            <a:pPr indent="0" marL="0">
              <a:buNone/>
            </a:pPr>
            <a:r>
              <a:rPr lang="en-US" sz="1600" i="1" dirty="0">
                <a:solidFill>
                  <a:srgbClr val="4A1D8C"/>
                </a:solidFill>
              </a:rPr>
              <a:t>Linear regression fails on the nonlinear suction peak; the ANN is accurate for both outputs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10972800" cy="822960"/>
          </a:xfrm>
          <a:prstGeom prst="rect">
            <a:avLst/>
          </a:prstGeom>
          <a:noFill/>
          <a:ln/>
        </p:spPr>
        <p:txBody>
          <a:bodyPr wrap="square" lIns="0" tIns="0" rIns="0" bIns="0" rtlCol="0" anchor="ctr"/>
          <a:lstStyle/>
          <a:p>
            <a:pPr indent="0" marL="0">
              <a:buNone/>
            </a:pPr>
            <a:r>
              <a:rPr lang="en-US" sz="3400" b="1" dirty="0">
                <a:solidFill>
                  <a:srgbClr val="FFFFFF"/>
                </a:solidFill>
                <a:latin typeface="Times New Roman" pitchFamily="34" charset="0"/>
                <a:ea typeface="Times New Roman" pitchFamily="34" charset="-122"/>
                <a:cs typeface="Times New Roman" pitchFamily="34" charset="-120"/>
              </a:rPr>
              <a:t>Key findings</a:t>
            </a:r>
            <a:endParaRPr lang="en-US" sz="3400" dirty="0"/>
          </a:p>
        </p:txBody>
      </p:sp>
      <p:sp>
        <p:nvSpPr>
          <p:cNvPr id="3" name="Text 1"/>
          <p:cNvSpPr txBox="1"/>
          <p:nvPr/>
        </p:nvSpPr>
        <p:spPr>
          <a:xfrm>
            <a:off x="548640" y="1828800"/>
            <a:ext cx="3520440" cy="1280160"/>
          </a:xfrm>
          <a:prstGeom prst="rect">
            <a:avLst/>
          </a:prstGeom>
          <a:noFill/>
          <a:ln/>
        </p:spPr>
        <p:txBody>
          <a:bodyPr wrap="square" lIns="0" tIns="0" rIns="0" bIns="0" rtlCol="0" anchor="ctr"/>
          <a:lstStyle/>
          <a:p>
            <a:pPr indent="0" marL="0">
              <a:buNone/>
            </a:pPr>
            <a:r>
              <a:rPr lang="en-US" sz="6000" b="1" dirty="0">
                <a:solidFill>
                  <a:srgbClr val="FFD666"/>
                </a:solidFill>
                <a:latin typeface="Times New Roman" pitchFamily="34" charset="0"/>
                <a:ea typeface="Times New Roman" pitchFamily="34" charset="-122"/>
                <a:cs typeface="Times New Roman" pitchFamily="34" charset="-120"/>
              </a:rPr>
              <a:t>0.999</a:t>
            </a:r>
            <a:endParaRPr lang="en-US" sz="6000" dirty="0"/>
          </a:p>
        </p:txBody>
      </p:sp>
      <p:sp>
        <p:nvSpPr>
          <p:cNvPr id="4" name="Text 2"/>
          <p:cNvSpPr txBox="1"/>
          <p:nvPr/>
        </p:nvSpPr>
        <p:spPr>
          <a:xfrm>
            <a:off x="548640" y="3200400"/>
            <a:ext cx="3291840" cy="1280160"/>
          </a:xfrm>
          <a:prstGeom prst="rect">
            <a:avLst/>
          </a:prstGeom>
          <a:noFill/>
          <a:ln/>
        </p:spPr>
        <p:txBody>
          <a:bodyPr wrap="square" lIns="0" tIns="0" rIns="0" bIns="0" rtlCol="0" anchor="t"/>
          <a:lstStyle/>
          <a:p>
            <a:pPr indent="0" marL="0">
              <a:buNone/>
            </a:pPr>
            <a:r>
              <a:rPr lang="en-US" sz="1900" dirty="0">
                <a:solidFill>
                  <a:srgbClr val="FFFFFF"/>
                </a:solidFill>
              </a:rPr>
              <a:t>R² of ANN for both CL and Cp,min</a:t>
            </a:r>
            <a:endParaRPr lang="en-US" sz="1900" dirty="0"/>
          </a:p>
        </p:txBody>
      </p:sp>
      <p:sp>
        <p:nvSpPr>
          <p:cNvPr id="5" name="Text 3"/>
          <p:cNvSpPr txBox="1"/>
          <p:nvPr/>
        </p:nvSpPr>
        <p:spPr>
          <a:xfrm>
            <a:off x="4343400" y="1828800"/>
            <a:ext cx="3520440" cy="1280160"/>
          </a:xfrm>
          <a:prstGeom prst="rect">
            <a:avLst/>
          </a:prstGeom>
          <a:noFill/>
          <a:ln/>
        </p:spPr>
        <p:txBody>
          <a:bodyPr wrap="square" lIns="0" tIns="0" rIns="0" bIns="0" rtlCol="0" anchor="ctr"/>
          <a:lstStyle/>
          <a:p>
            <a:pPr indent="0" marL="0">
              <a:buNone/>
            </a:pPr>
            <a:r>
              <a:rPr lang="en-US" sz="6000" b="1" dirty="0">
                <a:solidFill>
                  <a:srgbClr val="FFD666"/>
                </a:solidFill>
                <a:latin typeface="Times New Roman" pitchFamily="34" charset="0"/>
                <a:ea typeface="Times New Roman" pitchFamily="34" charset="-122"/>
                <a:cs typeface="Times New Roman" pitchFamily="34" charset="-120"/>
              </a:rPr>
              <a:t>~1,500×</a:t>
            </a:r>
            <a:endParaRPr lang="en-US" sz="6000" dirty="0"/>
          </a:p>
        </p:txBody>
      </p:sp>
      <p:sp>
        <p:nvSpPr>
          <p:cNvPr id="6" name="Text 4"/>
          <p:cNvSpPr txBox="1"/>
          <p:nvPr/>
        </p:nvSpPr>
        <p:spPr>
          <a:xfrm>
            <a:off x="4343400" y="3200400"/>
            <a:ext cx="3291840" cy="1280160"/>
          </a:xfrm>
          <a:prstGeom prst="rect">
            <a:avLst/>
          </a:prstGeom>
          <a:noFill/>
          <a:ln/>
        </p:spPr>
        <p:txBody>
          <a:bodyPr wrap="square" lIns="0" tIns="0" rIns="0" bIns="0" rtlCol="0" anchor="t"/>
          <a:lstStyle/>
          <a:p>
            <a:pPr indent="0" marL="0">
              <a:buNone/>
            </a:pPr>
            <a:r>
              <a:rPr lang="en-US" sz="1900" dirty="0">
                <a:solidFill>
                  <a:srgbClr val="FFFFFF"/>
                </a:solidFill>
              </a:rPr>
              <a:t>faster than the panel method per prediction</a:t>
            </a:r>
            <a:endParaRPr lang="en-US" sz="1900" dirty="0"/>
          </a:p>
        </p:txBody>
      </p:sp>
      <p:sp>
        <p:nvSpPr>
          <p:cNvPr id="7" name="Text 5"/>
          <p:cNvSpPr txBox="1"/>
          <p:nvPr/>
        </p:nvSpPr>
        <p:spPr>
          <a:xfrm>
            <a:off x="8138160" y="1828800"/>
            <a:ext cx="3520440" cy="1280160"/>
          </a:xfrm>
          <a:prstGeom prst="rect">
            <a:avLst/>
          </a:prstGeom>
          <a:noFill/>
          <a:ln/>
        </p:spPr>
        <p:txBody>
          <a:bodyPr wrap="square" lIns="0" tIns="0" rIns="0" bIns="0" rtlCol="0" anchor="ctr"/>
          <a:lstStyle/>
          <a:p>
            <a:pPr indent="0" marL="0">
              <a:buNone/>
            </a:pPr>
            <a:r>
              <a:rPr lang="en-US" sz="6000" b="1" dirty="0">
                <a:solidFill>
                  <a:srgbClr val="FFD666"/>
                </a:solidFill>
                <a:latin typeface="Times New Roman" pitchFamily="34" charset="0"/>
                <a:ea typeface="Times New Roman" pitchFamily="34" charset="-122"/>
                <a:cs typeface="Times New Roman" pitchFamily="34" charset="-120"/>
              </a:rPr>
              <a:t>86%</a:t>
            </a:r>
            <a:endParaRPr lang="en-US" sz="6000" dirty="0"/>
          </a:p>
        </p:txBody>
      </p:sp>
      <p:sp>
        <p:nvSpPr>
          <p:cNvPr id="8" name="Text 6"/>
          <p:cNvSpPr txBox="1"/>
          <p:nvPr/>
        </p:nvSpPr>
        <p:spPr>
          <a:xfrm>
            <a:off x="8138160" y="3200400"/>
            <a:ext cx="3291840" cy="1280160"/>
          </a:xfrm>
          <a:prstGeom prst="rect">
            <a:avLst/>
          </a:prstGeom>
          <a:noFill/>
          <a:ln/>
        </p:spPr>
        <p:txBody>
          <a:bodyPr wrap="square" lIns="0" tIns="0" rIns="0" bIns="0" rtlCol="0" anchor="t"/>
          <a:lstStyle/>
          <a:p>
            <a:pPr indent="0" marL="0">
              <a:buNone/>
            </a:pPr>
            <a:r>
              <a:rPr lang="en-US" sz="1900" dirty="0">
                <a:solidFill>
                  <a:srgbClr val="FFFFFF"/>
                </a:solidFill>
              </a:rPr>
              <a:t>of lift variation explained by angle of attack (camber: 14%)</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9CCF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Times New Roman" pitchFamily="34" charset="0"/>
                <a:ea typeface="Times New Roman" pitchFamily="34" charset="-122"/>
                <a:cs typeface="Times New Roman" pitchFamily="34" charset="-120"/>
              </a:rPr>
              <a:t>Conclusion and future work</a:t>
            </a:r>
            <a:endParaRPr lang="en-US" sz="3400" dirty="0"/>
          </a:p>
        </p:txBody>
      </p:sp>
      <p:sp>
        <p:nvSpPr>
          <p:cNvPr id="3" name="Shape 1"/>
          <p:cNvSpPr/>
          <p:nvPr/>
        </p:nvSpPr>
        <p:spPr>
          <a:xfrm>
            <a:off x="548640" y="1371600"/>
            <a:ext cx="5394960" cy="4480560"/>
          </a:xfrm>
          <a:prstGeom prst="roundRect">
            <a:avLst>
              <a:gd name="adj" fmla="val 2449"/>
            </a:avLst>
          </a:prstGeom>
          <a:solidFill>
            <a:srgbClr val="F3EEFB"/>
          </a:solidFill>
          <a:ln w="12700">
            <a:solidFill>
              <a:srgbClr val="F3EEFB"/>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6217920" y="1371600"/>
            <a:ext cx="5394960" cy="4480560"/>
          </a:xfrm>
          <a:prstGeom prst="roundRect">
            <a:avLst>
              <a:gd name="adj" fmla="val 2449"/>
            </a:avLst>
          </a:prstGeom>
          <a:solidFill>
            <a:srgbClr val="F3EEFB"/>
          </a:solidFill>
          <a:ln w="12700">
            <a:solidFill>
              <a:srgbClr val="F3EEFB"/>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554480"/>
            <a:ext cx="4846320" cy="548640"/>
          </a:xfrm>
          <a:prstGeom prst="rect">
            <a:avLst/>
          </a:prstGeom>
          <a:noFill/>
          <a:ln/>
        </p:spPr>
        <p:txBody>
          <a:bodyPr wrap="square" lIns="0" tIns="0" rIns="0" bIns="0" rtlCol="0" anchor="ctr"/>
          <a:lstStyle/>
          <a:p>
            <a:pPr indent="0" marL="0">
              <a:buNone/>
            </a:pPr>
            <a:r>
              <a:rPr lang="en-US" sz="2200" b="1" dirty="0">
                <a:solidFill>
                  <a:srgbClr val="2A0D5C"/>
                </a:solidFill>
                <a:latin typeface="Times New Roman" pitchFamily="34" charset="0"/>
                <a:ea typeface="Times New Roman" pitchFamily="34" charset="-122"/>
                <a:cs typeface="Times New Roman" pitchFamily="34" charset="-120"/>
              </a:rPr>
              <a:t>Conclusion</a:t>
            </a:r>
            <a:endParaRPr lang="en-US" sz="2200" dirty="0"/>
          </a:p>
        </p:txBody>
      </p:sp>
      <p:sp>
        <p:nvSpPr>
          <p:cNvPr id="6" name="Text 4"/>
          <p:cNvSpPr txBox="1"/>
          <p:nvPr/>
        </p:nvSpPr>
        <p:spPr>
          <a:xfrm>
            <a:off x="822960" y="2194560"/>
            <a:ext cx="4846320" cy="3474720"/>
          </a:xfrm>
          <a:prstGeom prst="rect">
            <a:avLst/>
          </a:prstGeom>
          <a:noFill/>
          <a:ln/>
        </p:spPr>
        <p:txBody>
          <a:bodyPr wrap="square" rtlCol="0" anchor="t"/>
          <a:lstStyle/>
          <a:p>
            <a:pPr marL="342900" indent="-342900">
              <a:spcAft>
                <a:spcPts val="1000"/>
              </a:spcAft>
              <a:buSzPct val="100000"/>
              <a:buChar char="•"/>
            </a:pPr>
            <a:r>
              <a:rPr lang="en-US" sz="1700" dirty="0">
                <a:solidFill>
                  <a:srgbClr val="1F1F1F"/>
                </a:solidFill>
              </a:rPr>
              <a:t>Validated panel solver matches thin airfoil theory</a:t>
            </a:r>
            <a:endParaRPr lang="en-US" sz="1700" dirty="0"/>
          </a:p>
          <a:p>
            <a:pPr marL="342900" indent="-342900">
              <a:spcAft>
                <a:spcPts val="1000"/>
              </a:spcAft>
              <a:buSzPct val="100000"/>
              <a:buChar char="•"/>
            </a:pPr>
            <a:r>
              <a:rPr lang="en-US" sz="1700" dirty="0">
                <a:solidFill>
                  <a:srgbClr val="1F1F1F"/>
                </a:solidFill>
              </a:rPr>
              <a:t>ANN surrogate predicts CL and Cp,min with R² = 0.999</a:t>
            </a:r>
            <a:endParaRPr lang="en-US" sz="1700" dirty="0"/>
          </a:p>
          <a:p>
            <a:pPr marL="342900" indent="-342900">
              <a:spcAft>
                <a:spcPts val="1000"/>
              </a:spcAft>
              <a:buSzPct val="100000"/>
              <a:buChar char="•"/>
            </a:pPr>
            <a:r>
              <a:rPr lang="en-US" sz="1700" dirty="0">
                <a:solidFill>
                  <a:srgbClr val="1F1F1F"/>
                </a:solidFill>
              </a:rPr>
              <a:t>Predictions are about 1,500× faster – useful for quick UAV wing-section design</a:t>
            </a:r>
            <a:endParaRPr lang="en-US" sz="1700" dirty="0"/>
          </a:p>
        </p:txBody>
      </p:sp>
      <p:sp>
        <p:nvSpPr>
          <p:cNvPr id="7" name="Text 5"/>
          <p:cNvSpPr txBox="1"/>
          <p:nvPr/>
        </p:nvSpPr>
        <p:spPr>
          <a:xfrm>
            <a:off x="6492240" y="1554480"/>
            <a:ext cx="4846320" cy="548640"/>
          </a:xfrm>
          <a:prstGeom prst="rect">
            <a:avLst/>
          </a:prstGeom>
          <a:noFill/>
          <a:ln/>
        </p:spPr>
        <p:txBody>
          <a:bodyPr wrap="square" lIns="0" tIns="0" rIns="0" bIns="0" rtlCol="0" anchor="ctr"/>
          <a:lstStyle/>
          <a:p>
            <a:pPr indent="0" marL="0">
              <a:buNone/>
            </a:pPr>
            <a:r>
              <a:rPr lang="en-US" sz="2200" b="1" dirty="0">
                <a:solidFill>
                  <a:srgbClr val="2A0D5C"/>
                </a:solidFill>
                <a:latin typeface="Times New Roman" pitchFamily="34" charset="0"/>
                <a:ea typeface="Times New Roman" pitchFamily="34" charset="-122"/>
                <a:cs typeface="Times New Roman" pitchFamily="34" charset="-120"/>
              </a:rPr>
              <a:t>Future work</a:t>
            </a:r>
            <a:endParaRPr lang="en-US" sz="2200" dirty="0"/>
          </a:p>
        </p:txBody>
      </p:sp>
      <p:sp>
        <p:nvSpPr>
          <p:cNvPr id="8" name="Text 6"/>
          <p:cNvSpPr txBox="1"/>
          <p:nvPr/>
        </p:nvSpPr>
        <p:spPr>
          <a:xfrm>
            <a:off x="6492240" y="2194560"/>
            <a:ext cx="4846320" cy="3474720"/>
          </a:xfrm>
          <a:prstGeom prst="rect">
            <a:avLst/>
          </a:prstGeom>
          <a:noFill/>
          <a:ln/>
        </p:spPr>
        <p:txBody>
          <a:bodyPr wrap="square" rtlCol="0" anchor="t"/>
          <a:lstStyle/>
          <a:p>
            <a:pPr marL="342900" indent="-342900">
              <a:spcAft>
                <a:spcPts val="1000"/>
              </a:spcAft>
              <a:buSzPct val="100000"/>
              <a:buChar char="•"/>
            </a:pPr>
            <a:r>
              <a:rPr lang="en-US" sz="1700" dirty="0">
                <a:solidFill>
                  <a:srgbClr val="1F1F1F"/>
                </a:solidFill>
              </a:rPr>
              <a:t>Add viscous effects (XFOIL / CFD) to capture drag and stall</a:t>
            </a:r>
            <a:endParaRPr lang="en-US" sz="1700" dirty="0"/>
          </a:p>
          <a:p>
            <a:pPr marL="342900" indent="-342900">
              <a:spcAft>
                <a:spcPts val="1000"/>
              </a:spcAft>
              <a:buSzPct val="100000"/>
              <a:buChar char="•"/>
            </a:pPr>
            <a:r>
              <a:rPr lang="en-US" sz="1700" dirty="0">
                <a:solidFill>
                  <a:srgbClr val="1F1F1F"/>
                </a:solidFill>
              </a:rPr>
              <a:t>Extend to NACA 5-digit and custom airfoil shapes</a:t>
            </a:r>
            <a:endParaRPr lang="en-US" sz="1700" dirty="0"/>
          </a:p>
          <a:p>
            <a:pPr marL="342900" indent="-342900">
              <a:spcAft>
                <a:spcPts val="1000"/>
              </a:spcAft>
              <a:buSzPct val="100000"/>
              <a:buChar char="•"/>
            </a:pPr>
            <a:r>
              <a:rPr lang="en-US" sz="1700" dirty="0">
                <a:solidFill>
                  <a:srgbClr val="1F1F1F"/>
                </a:solidFill>
              </a:rPr>
              <a:t>Use the surrogate for automatic airfoil optimisation</a:t>
            </a:r>
            <a:endParaRPr lang="en-US" sz="1700" dirty="0"/>
          </a:p>
        </p:txBody>
      </p:sp>
      <p:sp>
        <p:nvSpPr>
          <p:cNvPr id="9" name="Text 7"/>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400" i="1" dirty="0">
                <a:solidFill>
                  <a:srgbClr val="8A8A8A"/>
                </a:solidFill>
              </a:rPr>
              <a:t>Limitation: inviscid, incompressible flow – drag and stall are not modelled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latin typeface="Times New Roman" pitchFamily="34" charset="0"/>
                <a:ea typeface="Times New Roman" pitchFamily="34" charset="-122"/>
                <a:cs typeface="Times New Roman" pitchFamily="34" charset="-120"/>
              </a:rPr>
              <a:t>References</a:t>
            </a:r>
            <a:endParaRPr lang="en-US" sz="3400" dirty="0"/>
          </a:p>
        </p:txBody>
      </p:sp>
      <p:sp>
        <p:nvSpPr>
          <p:cNvPr id="3" name="Text 1"/>
          <p:cNvSpPr txBox="1"/>
          <p:nvPr/>
        </p:nvSpPr>
        <p:spPr>
          <a:xfrm>
            <a:off x="548640" y="1371600"/>
            <a:ext cx="11064240" cy="4480560"/>
          </a:xfrm>
          <a:prstGeom prst="rect">
            <a:avLst/>
          </a:prstGeom>
          <a:noFill/>
          <a:ln/>
        </p:spPr>
        <p:txBody>
          <a:bodyPr wrap="square" rtlCol="0" anchor="t"/>
          <a:lstStyle/>
          <a:p>
            <a:pPr marL="342900" indent="-342900">
              <a:spcAft>
                <a:spcPts val="1200"/>
              </a:spcAft>
              <a:buSzPct val="100000"/>
              <a:buFont typeface="+mj-lt"/>
              <a:buAutoNum type="arabicPeriod" startAt="1"/>
            </a:pPr>
            <a:r>
              <a:rPr lang="en-US" sz="1600" dirty="0">
                <a:solidFill>
                  <a:srgbClr val="1F1F1F"/>
                </a:solidFill>
              </a:rPr>
              <a:t>I. H. Abbott and A. E. von Doenhoff, Theory of Wing Sections, Dover Publications, 1959.</a:t>
            </a:r>
            <a:endParaRPr lang="en-US" sz="1600" dirty="0"/>
          </a:p>
          <a:p>
            <a:pPr marL="342900" indent="-342900">
              <a:spcAft>
                <a:spcPts val="1200"/>
              </a:spcAft>
              <a:buSzPct val="100000"/>
              <a:buFont typeface="+mj-lt"/>
              <a:buAutoNum type="arabicPeriod" startAt="1"/>
            </a:pPr>
            <a:r>
              <a:rPr lang="en-US" sz="1600" dirty="0">
                <a:solidFill>
                  <a:srgbClr val="1F1F1F"/>
                </a:solidFill>
              </a:rPr>
              <a:t>J. L. Hess and A. M. O. Smith, “Calculation of potential flow about arbitrary bodies,” Progress in Aerospace Sciences, vol. 8, pp. 1–138, 1967.</a:t>
            </a:r>
            <a:endParaRPr lang="en-US" sz="1600" dirty="0"/>
          </a:p>
          <a:p>
            <a:pPr marL="342900" indent="-342900">
              <a:spcAft>
                <a:spcPts val="1200"/>
              </a:spcAft>
              <a:buSzPct val="100000"/>
              <a:buFont typeface="+mj-lt"/>
              <a:buAutoNum type="arabicPeriod" startAt="1"/>
            </a:pPr>
            <a:r>
              <a:rPr lang="en-US" sz="1600" dirty="0">
                <a:solidFill>
                  <a:srgbClr val="1F1F1F"/>
                </a:solidFill>
              </a:rPr>
              <a:t>J. Katz and A. Plotkin, Low-Speed Aerodynamics, 2nd ed., Cambridge University Press, 2001.</a:t>
            </a:r>
            <a:endParaRPr lang="en-US" sz="1600" dirty="0"/>
          </a:p>
          <a:p>
            <a:pPr marL="342900" indent="-342900">
              <a:spcAft>
                <a:spcPts val="1200"/>
              </a:spcAft>
              <a:buSzPct val="100000"/>
              <a:buFont typeface="+mj-lt"/>
              <a:buAutoNum type="arabicPeriod" startAt="1"/>
            </a:pPr>
            <a:r>
              <a:rPr lang="en-US" sz="1600" dirty="0">
                <a:solidFill>
                  <a:srgbClr val="1F1F1F"/>
                </a:solidFill>
              </a:rPr>
              <a:t>J. D. Anderson, Fundamentals of Aerodynamics, 6th ed., McGraw-Hill, 2017.</a:t>
            </a:r>
            <a:endParaRPr lang="en-US" sz="1600" dirty="0"/>
          </a:p>
          <a:p>
            <a:pPr marL="342900" indent="-342900">
              <a:spcAft>
                <a:spcPts val="1200"/>
              </a:spcAft>
              <a:buSzPct val="100000"/>
              <a:buFont typeface="+mj-lt"/>
              <a:buAutoNum type="arabicPeriod" startAt="1"/>
            </a:pPr>
            <a:r>
              <a:rPr lang="en-US" sz="1600" dirty="0">
                <a:solidFill>
                  <a:srgbClr val="1F1F1F"/>
                </a:solidFill>
              </a:rPr>
              <a:t>F. Pedregosa et al., “Scikit-learn: Machine learning in Python,” Journal of Machine Learning Research, vol. 12, pp. 2825–2830, 2011.</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A8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logo.png">    </p:cNvPr>
          <p:cNvPicPr>
            <a:picLocks noChangeAspect="1"/>
          </p:cNvPicPr>
          <p:nvPr/>
        </p:nvPicPr>
        <p:blipFill>
          <a:blip r:embed="rId1"/>
          <a:stretch>
            <a:fillRect/>
          </a:stretch>
        </p:blipFill>
        <p:spPr>
          <a:xfrm>
            <a:off x="5413248" y="1097280"/>
            <a:ext cx="1371600" cy="1371600"/>
          </a:xfrm>
          <a:prstGeom prst="rect">
            <a:avLst/>
          </a:prstGeom>
        </p:spPr>
      </p:pic>
      <p:sp>
        <p:nvSpPr>
          <p:cNvPr id="3" name="Text 0"/>
          <p:cNvSpPr txBox="1"/>
          <p:nvPr/>
        </p:nvSpPr>
        <p:spPr>
          <a:xfrm>
            <a:off x="548640" y="2743200"/>
            <a:ext cx="11064240" cy="1097280"/>
          </a:xfrm>
          <a:prstGeom prst="rect">
            <a:avLst/>
          </a:prstGeom>
          <a:noFill/>
          <a:ln/>
        </p:spPr>
        <p:txBody>
          <a:bodyPr wrap="square" lIns="0" tIns="0" rIns="0" bIns="0" rtlCol="0" anchor="ctr"/>
          <a:lstStyle/>
          <a:p>
            <a:pPr algn="ctr" indent="0" marL="0">
              <a:buNone/>
            </a:pPr>
            <a:r>
              <a:rPr lang="en-US" sz="5400" b="1" dirty="0">
                <a:solidFill>
                  <a:srgbClr val="FFFFFF"/>
                </a:solidFill>
                <a:latin typeface="Times New Roman" pitchFamily="34" charset="0"/>
                <a:ea typeface="Times New Roman" pitchFamily="34" charset="-122"/>
                <a:cs typeface="Times New Roman" pitchFamily="34" charset="-120"/>
              </a:rPr>
              <a:t>Thank you</a:t>
            </a:r>
            <a:endParaRPr lang="en-US" sz="5400" dirty="0"/>
          </a:p>
        </p:txBody>
      </p:sp>
      <p:sp>
        <p:nvSpPr>
          <p:cNvPr id="4" name="Text 1"/>
          <p:cNvSpPr txBox="1"/>
          <p:nvPr/>
        </p:nvSpPr>
        <p:spPr>
          <a:xfrm>
            <a:off x="548640" y="3840480"/>
            <a:ext cx="11064240" cy="548640"/>
          </a:xfrm>
          <a:prstGeom prst="rect">
            <a:avLst/>
          </a:prstGeom>
          <a:noFill/>
          <a:ln/>
        </p:spPr>
        <p:txBody>
          <a:bodyPr wrap="square" lIns="0" tIns="0" rIns="0" bIns="0" rtlCol="0" anchor="ctr"/>
          <a:lstStyle/>
          <a:p>
            <a:pPr algn="ctr" indent="0" marL="0">
              <a:buNone/>
            </a:pPr>
            <a:r>
              <a:rPr lang="en-US" sz="2400" i="1" dirty="0">
                <a:solidFill>
                  <a:srgbClr val="FFD666"/>
                </a:solidFill>
              </a:rPr>
              <a:t>Questions?</a:t>
            </a:r>
            <a:endParaRPr lang="en-US" sz="2400" dirty="0"/>
          </a:p>
        </p:txBody>
      </p:sp>
      <p:sp>
        <p:nvSpPr>
          <p:cNvPr id="5" name="Text 2"/>
          <p:cNvSpPr txBox="1"/>
          <p:nvPr/>
        </p:nvSpPr>
        <p:spPr>
          <a:xfrm>
            <a:off x="548640" y="5760720"/>
            <a:ext cx="11064240" cy="365760"/>
          </a:xfrm>
          <a:prstGeom prst="rect">
            <a:avLst/>
          </a:prstGeom>
          <a:noFill/>
          <a:ln/>
        </p:spPr>
        <p:txBody>
          <a:bodyPr wrap="square" lIns="0" tIns="0" rIns="0" bIns="0" rtlCol="0" anchor="ctr"/>
          <a:lstStyle/>
          <a:p>
            <a:pPr algn="ctr" indent="0" marL="0">
              <a:buNone/>
            </a:pPr>
            <a:r>
              <a:rPr lang="en-US" sz="1400" dirty="0">
                <a:solidFill>
                  <a:srgbClr val="D9CCF2"/>
                </a:solidFill>
              </a:rPr>
              <a:t>Department of Mechanical Engineering, St. Joseph’s College of Engineering and Technology, Thanjavur</a:t>
            </a:r>
            <a:endParaRPr lang="en-US" sz="1400" dirty="0"/>
          </a:p>
        </p:txBody>
      </p:sp>
    </p:spTree>
  </p:cSld>
  <p:clrMapOvr>
    <a:masterClrMapping/>
  </p:clrMapOvr>
</p:sld>
</file>

<file path=ppt/theme/theme1.xml><?xml version="1.0" encoding="utf-8"?>
<a:theme xmlns:a="http://schemas.openxmlformats.org/drawingml/2006/main" name="SJCET Purple Gold">
  <a:themeElements>
    <a:clrScheme name="SJCET Purple Gold">
      <a:dk1>
        <a:srgbClr val="1F1F1F"/>
      </a:dk1>
      <a:lt1>
        <a:srgbClr val="FFFFFF"/>
      </a:lt1>
      <a:dk2>
        <a:srgbClr val="2A0D5C"/>
      </a:dk2>
      <a:lt2>
        <a:srgbClr val="F3EEFB"/>
      </a:lt2>
      <a:accent1>
        <a:srgbClr val="4A1D8C"/>
      </a:accent1>
      <a:accent2>
        <a:srgbClr val="E2A614"/>
      </a:accent2>
      <a:accent3>
        <a:srgbClr val="7B4FD0"/>
      </a:accent3>
      <a:accent4>
        <a:srgbClr val="B9B9B9"/>
      </a:accent4>
      <a:accent5>
        <a:srgbClr val="2A0D5C"/>
      </a:accent5>
      <a:accent6>
        <a:srgbClr val="FFD666"/>
      </a:accent6>
      <a:hlink>
        <a:srgbClr val="4A1D8C"/>
      </a:hlink>
      <a:folHlink>
        <a:srgbClr val="7B4FD0"/>
      </a:folHlink>
    </a:clrScheme>
    <a:fontScheme name="SJCET Purple Gold">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 Surrogate Model for NACA Airfoils</dc:title>
  <dc:subject>PptxGenJS Presentation</dc:subject>
  <dc:creator>Department of Mechanical Engineering, SJCET</dc:creator>
  <cp:lastModifiedBy>Department of Mechanical Engineering, SJCET</cp:lastModifiedBy>
  <cp:revision>1</cp:revision>
  <dcterms:created xsi:type="dcterms:W3CDTF">2026-10-07T05:11:29Z</dcterms:created>
  <dcterms:modified xsi:type="dcterms:W3CDTF">2026-10-07T05:11:29Z</dcterms:modified>
</cp:coreProperties>
</file>