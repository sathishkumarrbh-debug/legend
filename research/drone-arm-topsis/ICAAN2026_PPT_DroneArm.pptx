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93b4aa-0125-e54a-8519-7de8215e5c54}">
          <p14:sldIdLst>
            <p14:sldId id="256"/>
            <p14:sldId id="257"/>
            <p14:sldId id="258"/>
          </p14:sldIdLst>
        </p14:section>
        <p14:section name="Methodology" id="{981addaa-0529-1796-bcc3-08139821bd35}">
          <p14:sldIdLst>
            <p14:sldId id="259"/>
            <p14:sldId id="260"/>
            <p14:sldId id="261"/>
          </p14:sldIdLst>
        </p14:section>
        <p14:section name="Results" id="{88424680-3ac4-be9d-a9b1-c7d0e0d727ae}">
          <p14:sldIdLst>
            <p14:sldId id="262"/>
            <p14:sldId id="263"/>
          </p14:sldIdLst>
        </p14:section>
        <p14:section name="TOPSIS" id="{b33a4795-783a-378e-5173-8260868c4916}">
          <p14:sldIdLst>
            <p14:sldId id="264"/>
            <p14:sldId id="265"/>
            <p14:sldId id="266"/>
          </p14:sldIdLst>
        </p14:section>
        <p14:section name="Conclusion" id="{96963f5d-a73f-f47b-a625-56562c62401a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0D5C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2A0D5C"/>
                </a:solidFill>
                <a:latin typeface="+mj-lt"/>
              </a:rPr>
              <a:t>Arm mass (g)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Arm mass (g)</c:v>
                </c:pt>
              </c:strCache>
            </c:strRef>
          </c:tx>
          <c:spPr>
            <a:solidFill>
              <a:srgbClr val="4A1D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Steel 4130</c:v>
                  </c:pt>
                  <c:pt idx="1">
                    <c:v>Al 6061-T6</c:v>
                  </c:pt>
                  <c:pt idx="2">
                    <c:v>Ti-6Al-4V</c:v>
                  </c:pt>
                  <c:pt idx="3">
                    <c:v>GFRP</c:v>
                  </c:pt>
                  <c:pt idx="4">
                    <c:v>CFRP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54.3</c:v>
                </c:pt>
                <c:pt idx="1">
                  <c:v>18.7</c:v>
                </c:pt>
                <c:pt idx="2">
                  <c:v>30.6</c:v>
                </c:pt>
                <c:pt idx="3">
                  <c:v>13.1</c:v>
                </c:pt>
                <c:pt idx="4">
                  <c:v>11.1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0D5C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2A0D5C"/>
                </a:solidFill>
                <a:latin typeface="+mj-lt"/>
              </a:rPr>
              <a:t>Tip deflection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Tip deflection (mm)</c:v>
                </c:pt>
              </c:strCache>
            </c:strRef>
          </c:tx>
          <c:spPr>
            <a:solidFill>
              <a:srgbClr val="4A1D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Steel 4130</c:v>
                  </c:pt>
                  <c:pt idx="1">
                    <c:v>Al 6061-T6</c:v>
                  </c:pt>
                  <c:pt idx="2">
                    <c:v>Ti-6Al-4V</c:v>
                  </c:pt>
                  <c:pt idx="3">
                    <c:v>GFRP</c:v>
                  </c:pt>
                  <c:pt idx="4">
                    <c:v>CFRP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0.49</c:v>
                </c:pt>
                <c:pt idx="1">
                  <c:v>1.47</c:v>
                </c:pt>
                <c:pt idx="2">
                  <c:v>0.89</c:v>
                </c:pt>
                <c:pt idx="3">
                  <c:v>4.05</c:v>
                </c:pt>
                <c:pt idx="4">
                  <c:v>1.45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0D5C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2A0D5C"/>
                </a:solidFill>
                <a:latin typeface="+mj-lt"/>
              </a:rPr>
              <a:t>Factor of safety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Factor of safety</c:v>
                </c:pt>
              </c:strCache>
            </c:strRef>
          </c:tx>
          <c:spPr>
            <a:solidFill>
              <a:srgbClr val="4A1D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Steel 4130</c:v>
                  </c:pt>
                  <c:pt idx="1">
                    <c:v>Al 6061-T6</c:v>
                  </c:pt>
                  <c:pt idx="2">
                    <c:v>Ti-6Al-4V</c:v>
                  </c:pt>
                  <c:pt idx="3">
                    <c:v>GFRP</c:v>
                  </c:pt>
                  <c:pt idx="4">
                    <c:v>CFRP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10.1</c:v>
                </c:pt>
                <c:pt idx="1">
                  <c:v>6.1</c:v>
                </c:pt>
                <c:pt idx="2">
                  <c:v>19.3</c:v>
                </c:pt>
                <c:pt idx="3">
                  <c:v>7.7</c:v>
                </c:pt>
                <c:pt idx="4">
                  <c:v>13.2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0D5C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2A0D5C"/>
                </a:solidFill>
                <a:latin typeface="+mj-lt"/>
              </a:rPr>
              <a:t>Material cost per arm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Material cost per arm (₹)</c:v>
                </c:pt>
              </c:strCache>
            </c:strRef>
          </c:tx>
          <c:spPr>
            <a:solidFill>
              <a:srgbClr val="4A1D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F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Steel 4130</c:v>
                  </c:pt>
                  <c:pt idx="1">
                    <c:v>Al 6061-T6</c:v>
                  </c:pt>
                  <c:pt idx="2">
                    <c:v>Ti-6Al-4V</c:v>
                  </c:pt>
                  <c:pt idx="3">
                    <c:v>GFRP</c:v>
                  </c:pt>
                  <c:pt idx="4">
                    <c:v>CFRP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13.6</c:v>
                </c:pt>
                <c:pt idx="1">
                  <c:v>6.5</c:v>
                </c:pt>
                <c:pt idx="2">
                  <c:v>107.2</c:v>
                </c:pt>
                <c:pt idx="3">
                  <c:v>9.2</c:v>
                </c:pt>
                <c:pt idx="4">
                  <c:v>33.2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F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A0D5C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2A0D5C"/>
                </a:solidFill>
                <a:latin typeface="+mj-lt"/>
              </a:rPr>
              <a:t>Closeness score C (higher =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Closeness score</c:v>
                </c:pt>
              </c:strCache>
            </c:strRef>
          </c:tx>
          <c:spPr>
            <a:solidFill>
              <a:srgbClr val="4A1D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CFRP</c:v>
                  </c:pt>
                  <c:pt idx="1">
                    <c:v>Al 6061-T6</c:v>
                  </c:pt>
                  <c:pt idx="2">
                    <c:v>GFRP</c:v>
                  </c:pt>
                  <c:pt idx="3">
                    <c:v>Ti-6Al-4V</c:v>
                  </c:pt>
                  <c:pt idx="4">
                    <c:v>Steel 4130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0.784</c:v>
                </c:pt>
                <c:pt idx="1">
                  <c:v>0.713</c:v>
                </c:pt>
                <c:pt idx="2">
                  <c:v>0.568</c:v>
                </c:pt>
                <c:pt idx="3">
                  <c:v>0.529</c:v>
                </c:pt>
                <c:pt idx="4">
                  <c:v>0.519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444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Greet, introduce the team, read the title. One line: we found the best material for a drone arm using simple strength-of-materials formulas and a ranking method called TOPSIS.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Point to the drawing. Each of the four arms holds a motor. A heavy arm reduces flight time, a bendy arm vibrates, a weak arm breaks. We want the best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Three steps – calculate, compare,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The arm is fixed at the frame and the motor pushes up at the other end – exactly a cantilever from Strength of Materials. The motor gives up to 10 N; we double it for safety, so 20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These are textbook formulas. Same tube shape for all materials, so the stress is the same 45.5 MPa for all. Deflection changes with E (stiffness) and mass changes with density. You can work these on a calculator.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2: Two metals commonly used, one premium metal (titanium) and two composites. Values come from standard handbooks.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3: Left – weight. Carbon fibre is the lightest. Right – how much the tip bends. Steel bends least but is very heavy. Glass fibre bends 4 mm, which is too flexible.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3: Every material is safe – factor of safety above 6. So the choice depends on weight, stiffness and cost. That is why we need a ranking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TOPSIS picks the option closest to an imaginary perfect material and farthest from the worst one. All steps are simple arithmetic and are shown in our Excel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Carbon fibre scores 0.784 and comes first; aluminium is second with 0.713. Steel is last because it is too 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4: If we care most about performance, carbon fibre wins. If cost is the main concern, aluminium wins. This matches what we see in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1: Summarise. Next we will check the results with ANSYS and add vibration and crash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A0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ICAAN–2026  |  St. Joseph’s College of Engineering and Technology, Thanjavur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">
    <p:bg>
      <p:bgPr>
        <a:solidFill>
          <a:srgbClr val="4A1D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C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5029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St. Joseph’s College of Engineering and Technology, Thanjavur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Department of Mechanical Engineering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Selection for a Quadcopter Drone Arm Using Beam Theory and TOPSIS Method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666"/>
                </a:solidFill>
              </a:rPr>
              <a:t>Track: Propulsion and Structures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89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Dr. S. R. Sathishkumar, [Staff Name]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[Student 1], [Student 2], [Student 3], [Student 4]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CF2"/>
                </a:solidFill>
              </a:rPr>
              <a:t>ICAAN–2026  ·  Saranathan College of Engineering, Tiruchirappalli  ·  15–16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drone arm material matter?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arm holds the motor and carries its thrust to the frame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Heavy arm → shorter flight time (battery limited)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Flexible arm → vibration and poor control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Weak arm → breaks in a hard landing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So we need: light + stiff + strong + affordable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1371600"/>
            <a:ext cx="4754880" cy="4572000"/>
          </a:xfrm>
          <a:prstGeom prst="roundRect">
            <a:avLst>
              <a:gd name="adj" fmla="val 24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35240" y="2057400"/>
            <a:ext cx="3200400" cy="3200400"/>
          </a:xfrm>
          <a:prstGeom prst="line">
            <a:avLst/>
          </a:prstGeom>
          <a:noFill/>
          <a:ln w="88900">
            <a:solidFill>
              <a:srgbClr val="2A0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635240" y="2057400"/>
            <a:ext cx="3200400" cy="3200400"/>
          </a:xfrm>
          <a:prstGeom prst="line">
            <a:avLst/>
          </a:prstGeom>
          <a:noFill/>
          <a:ln w="88900">
            <a:solidFill>
              <a:srgbClr val="2A0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51192" y="1673352"/>
            <a:ext cx="768096" cy="768096"/>
          </a:xfrm>
          <a:prstGeom prst="ellipse">
            <a:avLst/>
          </a:prstGeom>
          <a:solidFill>
            <a:srgbClr val="E2A6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1592" y="1673352"/>
            <a:ext cx="768096" cy="768096"/>
          </a:xfrm>
          <a:prstGeom prst="ellipse">
            <a:avLst/>
          </a:prstGeom>
          <a:solidFill>
            <a:srgbClr val="E2A6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51192" y="4873752"/>
            <a:ext cx="768096" cy="768096"/>
          </a:xfrm>
          <a:prstGeom prst="ellipse">
            <a:avLst/>
          </a:prstGeom>
          <a:solidFill>
            <a:srgbClr val="E2A6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51592" y="4873752"/>
            <a:ext cx="768096" cy="768096"/>
          </a:xfrm>
          <a:prstGeom prst="ellipse">
            <a:avLst/>
          </a:prstGeom>
          <a:solidFill>
            <a:srgbClr val="E2A61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329184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4A1D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1540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0D5C"/>
                </a:solidFill>
              </a:rPr>
              <a:t>Arm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D5C"/>
                </a:solidFill>
              </a:rPr>
              <a:t>Motor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1D8C"/>
                </a:solidFill>
              </a:rPr>
              <a:t>450 mm quadcopter (X-frame)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</a:rPr>
              <a:t>Model the drone arm as a cantilever beam and find its stress and deflection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</a:rPr>
              <a:t>Compare five materials for mass, deflection, factor of safety and cost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5603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</a:rPr>
              <a:t>Rank the materials with the TOPSIS method and check the effect of weights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Arm modelled as a cantilever beam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11480" cy="237744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Frame (fixed)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2788920"/>
            <a:ext cx="4937760" cy="457200"/>
          </a:xfrm>
          <a:prstGeom prst="rect">
            <a:avLst/>
          </a:prstGeom>
          <a:solidFill>
            <a:srgbClr val="4A1D8C"/>
          </a:solidFill>
          <a:ln w="12700">
            <a:solidFill>
              <a:srgbClr val="4A1D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1600200"/>
            <a:ext cx="548640" cy="1097280"/>
          </a:xfrm>
          <a:prstGeom prst="downArrow">
            <a:avLst/>
          </a:prstGeom>
          <a:solidFill>
            <a:srgbClr val="E2A614"/>
          </a:solidFill>
          <a:ln w="12700">
            <a:solidFill>
              <a:srgbClr val="E2A6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D5C"/>
                </a:solidFill>
              </a:rPr>
              <a:t>F = 20 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3703320"/>
            <a:ext cx="4937760" cy="0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headEnd type="arrow"/>
            <a:tailEnd type="arrow"/>
          </a:ln>
        </p:spPr>
      </p:sp>
      <p:sp>
        <p:nvSpPr>
          <p:cNvPr id="9" name="Text 7"/>
          <p:cNvSpPr txBox="1"/>
          <p:nvPr/>
        </p:nvSpPr>
        <p:spPr>
          <a:xfrm>
            <a:off x="301752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D5C"/>
                </a:solidFill>
              </a:rPr>
              <a:t>L = 200 mm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4572000"/>
            <a:ext cx="1097280" cy="1097280"/>
          </a:xfrm>
          <a:prstGeom prst="ellipse">
            <a:avLst/>
          </a:prstGeom>
          <a:solidFill>
            <a:srgbClr val="4A1D8C"/>
          </a:solidFill>
          <a:ln w="12700">
            <a:solidFill>
              <a:srgbClr val="4A1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466344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0D5C"/>
                </a:solidFill>
              </a:rPr>
              <a:t>Tube cross-section: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0D5C"/>
                </a:solidFill>
              </a:rPr>
              <a:t>D = 12 mm, d = 10 mm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297680"/>
          </a:xfrm>
          <a:prstGeom prst="roundRect">
            <a:avLst>
              <a:gd name="adj" fmla="val 3158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66760" y="169164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4A1D8C"/>
                </a:solidFill>
              </a:rPr>
              <a:t>Design data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Drone: 450 mm, ≈ 1.5 kg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Max motor thrust: 10 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Safety factor: 2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Design load F = 10 × 2 = 20 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Load at free end (motor)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Calculation using beam theory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8C"/>
                </a:solidFill>
              </a:rPr>
              <a:t>Moment of inertia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π(D⁴ − d⁴)/64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527.0 mm⁴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4340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8C"/>
                </a:solidFill>
              </a:rPr>
              <a:t>Section modulus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I / (D/2)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87.8 mm³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8C"/>
                </a:solidFill>
              </a:rPr>
              <a:t>Bending moment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F × L = 20 × 200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4000 N·mm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4A1D8C"/>
          </a:solidFill>
          <a:ln w="12700">
            <a:solidFill>
              <a:srgbClr val="4A1D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66"/>
                </a:solidFill>
              </a:rPr>
              <a:t>Bending stress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M / Z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45.5 MPa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34340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1772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8C"/>
                </a:solidFill>
              </a:rPr>
              <a:t>Tip deflection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F L³ / (3 E I)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depends on 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13816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1248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D8C"/>
                </a:solidFill>
              </a:rPr>
              <a:t>Mass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ρ × A × L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depends on ρ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materials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82880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(kg/m³)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(GPa)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(MPa)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(₹/kg, approx.)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D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AISI 4130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Aluminium 6061-T6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 Ti-6Al-4V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GFRP (glass/epoxy)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CFRP (carbon/epoxy)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Source: typical handbook values (ASM Handbook, MatWeb). Strength = yield for metals, tensile for composites. Costs are approximate Indian market prices, used only for comparison.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arm mass and tip deflection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2801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1D8C"/>
                </a:solidFill>
              </a:rPr>
              <a:t>CFRP is lightest (11.1 g, ~80% lighter than steel); steel is stiffest but 5× heavier; GFRP bends the most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factor of safety and cost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28016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1D8C"/>
                </a:solidFill>
              </a:rPr>
              <a:t>All materials are safe (FoS &gt; 6); titanium is strongest but costliest; aluminium is cheapest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TOPSIS ranking method in 6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matrix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Materials × criteria table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Normalise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Divide by √(sum of squares)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weights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Mass 0.35, Deflection 0.25, FoS 0.20, Cost 0.20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best &amp; worst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Best and worst value of each criterion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Distances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D+ to best, D− to worst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Closeness score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709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 = D− / (D+ + D−); highest = best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TOPSIS = Technique for Order of Preference by Similarity to Ideal Solution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TOPSIS result: CFRP ranks first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37160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4A1D8C"/>
          </a:solidFill>
          <a:ln w="12700">
            <a:solidFill>
              <a:srgbClr val="4A1D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95528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1st  CFRP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2860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Lightest, stiff and very safe – best overall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80960" y="384048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95528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2nd  Aluminium 6061-T6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F1F"/>
                </a:solidFill>
              </a:rPr>
              <a:t>Cheapest and easy to machine – best budget choice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the result change with weights?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weights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Mass 0.35 · Defl. 0.25 · FoS 0.20 · Cost 0.20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1D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 1: </a:t>
            </a:r>
            <a:pPr indent="0" marL="0">
              <a:buNone/>
            </a:pPr>
            <a:r>
              <a:rPr lang="en-US" sz="2200" b="1" dirty="0">
                <a:solidFill>
                  <a:srgbClr val="4A1D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CFRP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weights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0.25 each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1D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 1: </a:t>
            </a:r>
            <a:pPr indent="0" marL="0">
              <a:buNone/>
            </a:pPr>
            <a:r>
              <a:rPr lang="en-US" sz="2200" b="1" dirty="0">
                <a:solidFill>
                  <a:srgbClr val="4A1D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CFRP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4A1D8C"/>
          </a:solidFill>
          <a:ln w="12700">
            <a:solidFill>
              <a:srgbClr val="4A1D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Cost-focused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Mass 0.25 · Defl. 0.15 · FoS 0.15 · Cost 0.45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566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 1: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Aluminium 6061-T6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A1D8C"/>
                </a:solidFill>
              </a:rPr>
              <a:t>Matches real practice: premium drones use carbon-fibre arms, low-cost drones use aluminium arms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Bending stress in the arm is only 45.5 MPa – all five materials are safe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CFRP is the best overall choice (C = 0.784, 11.1 g arm)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Aluminium 6061-T6 is the best low-cost choice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Simple beam theory + TOPSIS gives a quick, transparent decision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0D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Verify stress and deflection with FEA (ANSYS)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Include vibration (natural frequency) and impact load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Test 3D-printed and natural-fibre composite arms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F1F"/>
                </a:solidFill>
              </a:rPr>
              <a:t>R. C. Hibbeler, Mechanics of Materials, 10th ed., Pearson, 2017.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F1F"/>
                </a:solidFill>
              </a:rPr>
              <a:t>M. F. Ashby, Materials Selection in Mechanical Design, 5th ed., Butterworth-Heinemann, 2017.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F1F"/>
                </a:solidFill>
              </a:rPr>
              <a:t>C. L. Hwang and K. Yoon, Multiple Attribute Decision Making: Methods and Applications, Springer, 1981.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F1F"/>
                </a:solidFill>
              </a:rPr>
              <a:t>ASM International, ASM Handbook, Vol. 2: Properties and Selection – Nonferrous Alloys, 1990.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F1F"/>
                </a:solidFill>
              </a:rPr>
              <a:t>MatWeb Material Property Data, www.matweb.com (accessed October 2026).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666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CF2"/>
                </a:solidFill>
              </a:rPr>
              <a:t>Department of Mechanical Engineering, St. Joseph’s College of Engineering and Technology, Thanjavur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JCET Purple Gold">
  <a:themeElements>
    <a:clrScheme name="SJCET Purple Gold">
      <a:dk1>
        <a:srgbClr val="1F1F1F"/>
      </a:dk1>
      <a:lt1>
        <a:srgbClr val="FFFFFF"/>
      </a:lt1>
      <a:dk2>
        <a:srgbClr val="2A0D5C"/>
      </a:dk2>
      <a:lt2>
        <a:srgbClr val="F3EEFB"/>
      </a:lt2>
      <a:accent1>
        <a:srgbClr val="4A1D8C"/>
      </a:accent1>
      <a:accent2>
        <a:srgbClr val="E2A614"/>
      </a:accent2>
      <a:accent3>
        <a:srgbClr val="7B4FD0"/>
      </a:accent3>
      <a:accent4>
        <a:srgbClr val="B9B9B9"/>
      </a:accent4>
      <a:accent5>
        <a:srgbClr val="2A0D5C"/>
      </a:accent5>
      <a:accent6>
        <a:srgbClr val="FFD666"/>
      </a:accent6>
      <a:hlink>
        <a:srgbClr val="4A1D8C"/>
      </a:hlink>
      <a:folHlink>
        <a:srgbClr val="7B4FD0"/>
      </a:folHlink>
    </a:clrScheme>
    <a:fontScheme name="SJCET Purple Gold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Selection for a Quadcopter Drone Arm</dc:title>
  <dc:subject>PptxGenJS Presentation</dc:subject>
  <dc:creator>Department of Mechanical Engineering, SJCET</dc:creator>
  <cp:lastModifiedBy>Department of Mechanical Engineering, SJCET</cp:lastModifiedBy>
  <cp:revision>1</cp:revision>
  <dcterms:created xsi:type="dcterms:W3CDTF">2026-10-07T05:34:07Z</dcterms:created>
  <dcterms:modified xsi:type="dcterms:W3CDTF">2026-10-07T05:34:07Z</dcterms:modified>
</cp:coreProperties>
</file>